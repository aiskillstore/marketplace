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ce5fc65524caa" /><Relationship Type="http://schemas.openxmlformats.org/officeDocument/2006/relationships/extended-properties" Target="/docProps/app.xml" Id="R4ecc243df40d40eb" /><Relationship Type="http://schemas.openxmlformats.org/officeDocument/2006/relationships/officeDocument" Target="/ppt/presentation.xml" Id="R5406452f3efe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060e5c65c49fd"/>
  </p:sldMasterIdLst>
  <p:notesMasterIdLst>
    <p:notesMasterId xmlns:r="http://schemas.openxmlformats.org/officeDocument/2006/relationships" r:id="R9649179f871d478d"/>
  </p:notesMasterIdLst>
  <p:sldIdLst>
    <p:sldId xmlns:r="http://schemas.openxmlformats.org/officeDocument/2006/relationships" id="256" r:id="R72d939796f4c409e"/>
    <p:sldId xmlns:r="http://schemas.openxmlformats.org/officeDocument/2006/relationships" id="257" r:id="R2992263ecbb5466c"/>
    <p:sldId xmlns:r="http://schemas.openxmlformats.org/officeDocument/2006/relationships" id="258" r:id="R3fe73a19cf114a67"/>
    <p:sldId xmlns:r="http://schemas.openxmlformats.org/officeDocument/2006/relationships" id="259" r:id="R7fc16f497d6b4bca"/>
    <p:sldId xmlns:r="http://schemas.openxmlformats.org/officeDocument/2006/relationships" id="260" r:id="R53a12f16cafc45c7"/>
    <p:sldId xmlns:r="http://schemas.openxmlformats.org/officeDocument/2006/relationships" id="261" r:id="Rf5e273ac2a4a4b9c"/>
    <p:sldId xmlns:r="http://schemas.openxmlformats.org/officeDocument/2006/relationships" id="262" r:id="R66cf16ff16cc4c8e"/>
    <p:sldId xmlns:r="http://schemas.openxmlformats.org/officeDocument/2006/relationships" id="263" r:id="R3ee9bf2655e646ba"/>
    <p:sldId xmlns:r="http://schemas.openxmlformats.org/officeDocument/2006/relationships" id="264" r:id="R31021142660c48a9"/>
    <p:sldId xmlns:r="http://schemas.openxmlformats.org/officeDocument/2006/relationships" id="265" r:id="R9988e8cceb7a4ad6"/>
    <p:sldId xmlns:r="http://schemas.openxmlformats.org/officeDocument/2006/relationships" id="266" r:id="Rafc89c271dc4427b"/>
    <p:sldId xmlns:r="http://schemas.openxmlformats.org/officeDocument/2006/relationships" id="267" r:id="R4aff1004a0654a04"/>
    <p:sldId xmlns:r="http://schemas.openxmlformats.org/officeDocument/2006/relationships" id="268" r:id="R64cdf6cef12f4c32"/>
    <p:sldId xmlns:r="http://schemas.openxmlformats.org/officeDocument/2006/relationships" id="269" r:id="Rf690461df9284371"/>
    <p:sldId xmlns:r="http://schemas.openxmlformats.org/officeDocument/2006/relationships" id="270" r:id="Red338958bf2e467d"/>
    <p:sldId xmlns:r="http://schemas.openxmlformats.org/officeDocument/2006/relationships" id="271" r:id="Rf550a80bfb764f96"/>
    <p:sldId xmlns:r="http://schemas.openxmlformats.org/officeDocument/2006/relationships" id="272" r:id="Rd5ab27e0eb0b4ab7"/>
    <p:sldId xmlns:r="http://schemas.openxmlformats.org/officeDocument/2006/relationships" id="273" r:id="R48f38686f365489f"/>
    <p:sldId xmlns:r="http://schemas.openxmlformats.org/officeDocument/2006/relationships" id="274" r:id="R5d8b3df14af04865"/>
    <p:sldId xmlns:r="http://schemas.openxmlformats.org/officeDocument/2006/relationships" id="275" r:id="R3e69fb473cd046e9"/>
    <p:sldId xmlns:r="http://schemas.openxmlformats.org/officeDocument/2006/relationships" id="276" r:id="R8b34a65e49fb4d98"/>
    <p:sldId xmlns:r="http://schemas.openxmlformats.org/officeDocument/2006/relationships" id="277" r:id="R9cb10658942f4745"/>
    <p:sldId xmlns:r="http://schemas.openxmlformats.org/officeDocument/2006/relationships" id="278" r:id="Rddf1fa85a04743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887cf7630e4d8b" /><Relationship Type="http://schemas.openxmlformats.org/officeDocument/2006/relationships/slideMaster" Target="/ppt/slideMasters/slideMaster1.xml" Id="R37a060e5c65c49fd" /><Relationship Type="http://schemas.openxmlformats.org/officeDocument/2006/relationships/notesMaster" Target="/ppt/notesMasters/notesMaster1.xml" Id="R9649179f871d478d" /><Relationship Type="http://schemas.openxmlformats.org/officeDocument/2006/relationships/presProps" Target="/ppt/presProps.xml" Id="R912a0446089b4d89" /><Relationship Type="http://schemas.openxmlformats.org/officeDocument/2006/relationships/tableStyles" Target="/ppt/tableStyles.xml" Id="R1b02b6221b4f408a" /><Relationship Type="http://schemas.openxmlformats.org/officeDocument/2006/relationships/slide" Target="/ppt/slides/slide1.xml" Id="R72d939796f4c409e" /><Relationship Type="http://schemas.openxmlformats.org/officeDocument/2006/relationships/slide" Target="/ppt/slides/slide2.xml" Id="R2992263ecbb5466c" /><Relationship Type="http://schemas.openxmlformats.org/officeDocument/2006/relationships/slide" Target="/ppt/slides/slide3.xml" Id="R3fe73a19cf114a67" /><Relationship Type="http://schemas.openxmlformats.org/officeDocument/2006/relationships/slide" Target="/ppt/slides/slide4.xml" Id="R7fc16f497d6b4bca" /><Relationship Type="http://schemas.openxmlformats.org/officeDocument/2006/relationships/slide" Target="/ppt/slides/slide5.xml" Id="R53a12f16cafc45c7" /><Relationship Type="http://schemas.openxmlformats.org/officeDocument/2006/relationships/slide" Target="/ppt/slides/slide6.xml" Id="Rf5e273ac2a4a4b9c" /><Relationship Type="http://schemas.openxmlformats.org/officeDocument/2006/relationships/slide" Target="/ppt/slides/slide7.xml" Id="R66cf16ff16cc4c8e" /><Relationship Type="http://schemas.openxmlformats.org/officeDocument/2006/relationships/slide" Target="/ppt/slides/slide8.xml" Id="R3ee9bf2655e646ba" /><Relationship Type="http://schemas.openxmlformats.org/officeDocument/2006/relationships/slide" Target="/ppt/slides/slide9.xml" Id="R31021142660c48a9" /><Relationship Type="http://schemas.openxmlformats.org/officeDocument/2006/relationships/slide" Target="/ppt/slides/slide10.xml" Id="R9988e8cceb7a4ad6" /><Relationship Type="http://schemas.openxmlformats.org/officeDocument/2006/relationships/slide" Target="/ppt/slides/slide11.xml" Id="Rafc89c271dc4427b" /><Relationship Type="http://schemas.openxmlformats.org/officeDocument/2006/relationships/slide" Target="/ppt/slides/slide12.xml" Id="R4aff1004a0654a04" /><Relationship Type="http://schemas.openxmlformats.org/officeDocument/2006/relationships/slide" Target="/ppt/slides/slide13.xml" Id="R64cdf6cef12f4c32" /><Relationship Type="http://schemas.openxmlformats.org/officeDocument/2006/relationships/slide" Target="/ppt/slides/slide14.xml" Id="Rf690461df9284371" /><Relationship Type="http://schemas.openxmlformats.org/officeDocument/2006/relationships/slide" Target="/ppt/slides/slide15.xml" Id="Red338958bf2e467d" /><Relationship Type="http://schemas.openxmlformats.org/officeDocument/2006/relationships/slide" Target="/ppt/slides/slide16.xml" Id="Rf550a80bfb764f96" /><Relationship Type="http://schemas.openxmlformats.org/officeDocument/2006/relationships/slide" Target="/ppt/slides/slide17.xml" Id="Rd5ab27e0eb0b4ab7" /><Relationship Type="http://schemas.openxmlformats.org/officeDocument/2006/relationships/slide" Target="/ppt/slides/slide18.xml" Id="R48f38686f365489f" /><Relationship Type="http://schemas.openxmlformats.org/officeDocument/2006/relationships/slide" Target="/ppt/slides/slide19.xml" Id="R5d8b3df14af04865" /><Relationship Type="http://schemas.openxmlformats.org/officeDocument/2006/relationships/slide" Target="/ppt/slides/slide20.xml" Id="R3e69fb473cd046e9" /><Relationship Type="http://schemas.openxmlformats.org/officeDocument/2006/relationships/slide" Target="/ppt/slides/slide21.xml" Id="R8b34a65e49fb4d98" /><Relationship Type="http://schemas.openxmlformats.org/officeDocument/2006/relationships/slide" Target="/ppt/slides/slide22.xml" Id="R9cb10658942f4745" /><Relationship Type="http://schemas.openxmlformats.org/officeDocument/2006/relationships/slide" Target="/ppt/slides/slide23.xml" Id="Rddf1fa85a04743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584887dd949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4dc77aab3545d5" /><Relationship Type="http://schemas.openxmlformats.org/officeDocument/2006/relationships/notesMaster" Target="/ppt/notesMasters/notesMaster1.xml" Id="R88dd78cd0cec4c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045f23ad3f4e99" /><Relationship Type="http://schemas.openxmlformats.org/officeDocument/2006/relationships/notesMaster" Target="/ppt/notesMasters/notesMaster1.xml" Id="Rb779bd6312fb4f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e217961103435b" /><Relationship Type="http://schemas.openxmlformats.org/officeDocument/2006/relationships/notesMaster" Target="/ppt/notesMasters/notesMaster1.xml" Id="R1e8c9915d34c46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f4305ab78a44bf" /><Relationship Type="http://schemas.openxmlformats.org/officeDocument/2006/relationships/notesMaster" Target="/ppt/notesMasters/notesMaster1.xml" Id="R2913a01a40464c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753f4db4214fb3" /><Relationship Type="http://schemas.openxmlformats.org/officeDocument/2006/relationships/notesMaster" Target="/ppt/notesMasters/notesMaster1.xml" Id="R49a74e12779a4b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f08435c2e3407f" /><Relationship Type="http://schemas.openxmlformats.org/officeDocument/2006/relationships/notesMaster" Target="/ppt/notesMasters/notesMaster1.xml" Id="R40c6d71b348645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38f95792447a7" /><Relationship Type="http://schemas.openxmlformats.org/officeDocument/2006/relationships/notesMaster" Target="/ppt/notesMasters/notesMaster1.xml" Id="R98425ccc24d349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928b72198142e0" /><Relationship Type="http://schemas.openxmlformats.org/officeDocument/2006/relationships/notesMaster" Target="/ppt/notesMasters/notesMaster1.xml" Id="Rf115eeaebd1e48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3a7b5fcfe64ba3" /><Relationship Type="http://schemas.openxmlformats.org/officeDocument/2006/relationships/notesMaster" Target="/ppt/notesMasters/notesMaster1.xml" Id="R805a34ca3a3c42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5c134aa5224e83" /><Relationship Type="http://schemas.openxmlformats.org/officeDocument/2006/relationships/notesMaster" Target="/ppt/notesMasters/notesMaster1.xml" Id="R29551073895148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0305e3226a4b4d" /><Relationship Type="http://schemas.openxmlformats.org/officeDocument/2006/relationships/notesMaster" Target="/ppt/notesMasters/notesMaster1.xml" Id="Rd9a6cc011ad747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0b9245b3ca474a" /><Relationship Type="http://schemas.openxmlformats.org/officeDocument/2006/relationships/notesMaster" Target="/ppt/notesMasters/notesMaster1.xml" Id="Rb7647fbf87dd41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ea68ce4d674d5e" /><Relationship Type="http://schemas.openxmlformats.org/officeDocument/2006/relationships/notesMaster" Target="/ppt/notesMasters/notesMaster1.xml" Id="R04b44c9f904640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7777b8605d4002" /><Relationship Type="http://schemas.openxmlformats.org/officeDocument/2006/relationships/notesMaster" Target="/ppt/notesMasters/notesMaster1.xml" Id="Rccb674d519a444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334ab42a6b4ea2" /><Relationship Type="http://schemas.openxmlformats.org/officeDocument/2006/relationships/notesMaster" Target="/ppt/notesMasters/notesMaster1.xml" Id="R8936521731604e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f3beb5c0ef40c4" /><Relationship Type="http://schemas.openxmlformats.org/officeDocument/2006/relationships/notesMaster" Target="/ppt/notesMasters/notesMaster1.xml" Id="R754780c8c42b42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203e69bbe1404b" /><Relationship Type="http://schemas.openxmlformats.org/officeDocument/2006/relationships/notesMaster" Target="/ppt/notesMasters/notesMaster1.xml" Id="Rca3cd80c6d1249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ec0223d181499a" /><Relationship Type="http://schemas.openxmlformats.org/officeDocument/2006/relationships/notesMaster" Target="/ppt/notesMasters/notesMaster1.xml" Id="R9f3cc3875fa149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45acd0e9ce4efd" /><Relationship Type="http://schemas.openxmlformats.org/officeDocument/2006/relationships/notesMaster" Target="/ppt/notesMasters/notesMaster1.xml" Id="Rdf97ba6f5bd644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20baf187a64b9f" /><Relationship Type="http://schemas.openxmlformats.org/officeDocument/2006/relationships/notesMaster" Target="/ppt/notesMasters/notesMaster1.xml" Id="Rf4f2ea40001c44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be78c59d6842bd" /><Relationship Type="http://schemas.openxmlformats.org/officeDocument/2006/relationships/notesMaster" Target="/ppt/notesMasters/notesMaster1.xml" Id="R5099632197194c0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23203cd99b4a42" /><Relationship Type="http://schemas.openxmlformats.org/officeDocument/2006/relationships/notesMaster" Target="/ppt/notesMasters/notesMaster1.xml" Id="R7f1035fc358a43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9c07dd98a184817" /><Relationship Type="http://schemas.openxmlformats.org/officeDocument/2006/relationships/notesMaster" Target="/ppt/notesMasters/notesMaster1.xml" Id="R71f5b11b0f8e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{"page":{"blocks":[{"label":"分析期间","text":"2024-01 至 2025-06"},{"label":"汇报目标","text":"复盘全渠道经营表现，定位增长机会、效率风险与下一周期行动"}],"chart_id":null,"content_sha256":"6f3aa08d4aa81fc8bf64009b4fdb64aa4f0e4fadfb5a165761fd89c51cac62de","evidence_ids":[],"id":"page-001","kind":"cover","navigation":{"conclusion_indices":[],"eyebrow":"开场 · 汇报目标","phase":"开场","purpose":"汇报目标","section":"开场"},"owner":null,"period":"2024-01 至 2025-06","title":"全渠道零售经营复盘（合成数据）","visual":{"block_indices":[0,1],"focus_indices":[],"relation":"reference","version":"presentation-visual/2"}},"source_model":"9abc861342b7f86462de4e9a12fcf6da888776d536cec157802e411865873ccf","projection":"8b6e8a29e7e4b1e6fb1869fe50ac2b30c2f8a5a74aa753a540b85fc2a3e18013","scopes":[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conclusion_number":1,"label":"收入增长但投入产出回落","text":"收入增长伴随投入产出回落，先核验付费广告效率，谨慎验证内容种草增量。"},{"conclusion_number":2,"label":"服饰扩量需同步处理退款压力","text":"服饰退款压力突出，扩量与售后改进需要同时安排。"},{"conclusion_number":3,"label":"分层优势不等于可复制增量","text":"客户分层可提供验证方向，平均差异不能当作可复制的增量回报。"}],"chart_id":null,"content_sha256":"ba292bcedcb1c2d0e86c023fd6ecf0755b156c80c1b18710c87a5713e2f92344","evidence_ids":["change_03f7fb34e5085ffa","change_6a132a7704ff900f","change_bc9946a65523e3cd","dimension_2","dimension_3","overview","trend"],"id":"page-002","kind":"summary","navigation":{"conclusion_indices":[],"eyebrow":"开场 · 核心判断","phase":"开场","purpose":"核心判断","section":"开场"},"owner":"summary","period":"2024-01 至 2025-06","title":"核心判断","visual":{"block_indices":[0,1,2],"focus_indices":[],"relation":"equal-judgements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,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,{"denominator":"同一已确认总体的两期对象并集，包含新增/退出；不存在的加总/计数为零，比率无定义时不伪造。变动为数学贡献，不等同因果。","filters":[],"periods":["2024-06","2025-06"],"population_sha256":"ec213b74d084076cb9db3b632d48a310add41995b95aa83568937d21d66139ae","rows":10950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evidence_cell":{"column":"收入","evidence_id":"overview","row":0},"label":"收入","raw_value":156825380.51999998,"text":"156,825,380.52元"},{"evidence_cell":{"column":"订单数","evidence_id":"overview","row":0},"label":"订单数","raw_value":392817,"text":"392,817单"},{"evidence_cell":{"column":"转化率","evidence_id":"overview","row":0},"label":"转化率","raw_value":4.805118550893765,"text":"4.81%"},{"evidence_cell":{"column":"退款率","evidence_id":"overview","row":0},"label":"退款率","raw_value":5.447655667515164,"text":"5.45%"},{"evidence_cell":{"column":"营销成本","evidence_id":"overview","row":0},"label":"营销成本","raw_value":12459443.39,"text":"12,459,443.39元"},{"evidence_cell":{"column":"ROAS","evidence_id":"overview","row":0},"label":"投入产出比（ROAS）","raw_value":12.586868900248678,"text":"12.59x"}],"chart_id":null,"content_sha256":"7ea85608a20a1455ab36365b2dc066801eba7dd3e7d57fac61d837b1ce0cacf2","evidence_ids":["overview"],"id":"page-003","kind":"overview","navigation":{"conclusion_indices":[],"eyebrow":"全局背景 · 经营基本盘","phase":"全局背景","purpose":"经营基本盘","section":"全局背景"},"owner":"overview","period":"2024-01 至 2025-06","title":"分析期总体概况","visual":{"block_indices":[0,1,2,3,4,5],"focus_indices":[0],"focus_rationale":"该经营复盘以收入规模交代整体背景，再解释转化、退款与营销投入产出；主指标仅为阅读重心，不表示其他指标不重要。","relation":"declared-metric-focus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证据与判断","text":"最新月收入9,852,473.73元，去年同月为8,321,659.42元；营销投入产出从13x降至9.96x。"},{"label":"业务含义","text":"收入增长需要同时看营销成本与退款。最新月退款金额占收入6.82%，高于去年同期的5.29%。"},{"label":"适用边界","text":"投入产出以收入除以已记录营销成本，不含毛利、履约及全部间接成本；也不代表广告带来的增量回报。"}],"chart_id":null,"content_sha256":"1796d9316215b2e5963d6e3d128c96bcd26076b54d51b2a88e5b8c9879901b5a","evidence_ids":["overview","trend"],"id":"page-004","kind":"chapter","navigation":{"conclusion_indices":[0],"eyebrow":"结论01 · 规模与效率 · 证据与判断","phase":"判断展开","purpose":"证据与判断","section":"结论01 · 规模与效率"},"owner":"growth","period":"2024-01 至 2025-06","title":"收入扩大，营销投入产出却低于去年同期","visual":{"block_indices":[0,1,2],"focus_indices":[],"relation":"reference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{"page":{"blocks":[{"label":"范围","text":"2024-01 至 2025-06；全体观测；100000条记录"}],"chart_id":"revenue-trend","content_sha256":"070051c52169366ac5316f06c87e03e74cf607e446b0eb196ace70f6ad9775f3","evidence_ids":["trend"],"id":"page-005","kind":"chart","navigation":{"conclusion_indices":[0],"eyebrow":"结论01 · 规模与效率 · 图表依据","phase":"判断展开","purpose":"图表依据","section":"结论01 · 规模与效率"},"owner":"growth","period":"2024-01 至 2025-06","title":"最新月收入高于去年同月","visual":{"block_indices":[0],"focus_indices":[],"label_notes":{},"relation":"evidence-comparison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{"page":{"blocks":[{"label":"范围","text":"2024-01 至 2025-06；全体观测；100000条记录"}],"chart_id":"roas-trend","content_sha256":"abdfe2cc009b50bf96838ff32f24f3f944b0877743e13bb65448323a4fa13f8d","evidence_ids":["trend"],"id":"page-006","kind":"chart","navigation":{"conclusion_indices":[0],"eyebrow":"结论01 · 规模与效率 · 图表依据","phase":"判断展开","purpose":"图表依据","section":"结论01 · 规模与效率"},"owner":"growth","period":"2024-01 至 2025-06","title":"近期营销投入产出低于去年同期","visual":{"block_indices":[0],"focus_indices":[],"label_notes":{},"relation":"evidence-comparison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证据与判断","text":"内容种草较去年同月新增收入1,490,839.38元；付费广告收入从2,667,587.41元降至2,101,965.65元。"},{"label":"业务含义","text":"付费广告营销成本从456,704.31元升至732,833.12元，投入产出降至2.87x。内容种草投入产出20.4x，但也低于前月20.94x，不宜无条件扩大。"},{"label":"适用边界","text":"对比去年同月有助于减少月份差异，但未控制素材、定向、活动及归因规则；渠道间成本覆盖不同，不能按平均回报机械搬预算。"}],"chart_id":null,"content_sha256":"7e7552b7102d3b2ad3e34e33d0a8f8adaf4dcd401fe2fc0ecafad89afc11744d","evidence_ids":["change_6a132a7704ff900f","change_bc9946a65523e3cd"],"id":"page-007","kind":"chapter","navigation":{"conclusion_indices":[0],"eyebrow":"结论01 · 规模与效率 · 证据与判断","phase":"判断展开","purpose":"证据与判断","section":"结论01 · 规模与效率"},"owner":"channels","period":"2024-01 至 2025-06","title":"内容种草带来较多增长，付费广告效率需优先复核","visual":{"block_indices":[0,1,2],"focus_indices":[],"relation":"reference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,{"denominator":"同一已确认总体的两期对象并集，包含新增/退出；不存在的加总/计数为零，比率无定义时不伪造。变动为数学贡献，不等同因果。","filters":[],"periods":["2024-06","2025-06"],"population_sha256":"ec213b74d084076cb9db3b632d48a310add41995b95aa83568937d21d66139ae","rows":10950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{"page":{"blocks":[{"label":"范围","text":"2024-06 至 2025-06；全体观测；10950条记录"}],"chart_id":"channel-revenue","content_sha256":"eb37093eacd662b45b1ecae8799becb80212936ca1be30c5214a73097e0794c7","evidence_ids":["change_bc9946a65523e3cd"],"id":"page-008","kind":"chart","navigation":{"conclusion_indices":[0],"eyebrow":"结论01 · 规模与效率 · 图表依据","phase":"判断展开","purpose":"图表依据","section":"结论01 · 规模与效率"},"owner":"channels","period":"2024-06 至 2025-06","title":"内容种草收入同比增长，付费广告下降","visual":{"block_indices":[0],"focus_indices":[0,1],"label_notes":{"付费广告":"下降","内容种草":"收入同比增长"},"relation":"evidence-comparison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2024-06","2025-06"],"population_sha256":"ec213b74d084076cb9db3b632d48a310add41995b95aa83568937d21d66139ae","rows":10950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{"page":{"blocks":[{"label":"范围","text":"2024-06 至 2025-06；全体观测；10950条记录"}],"chart_id":"channel-roas","content_sha256":"4e44e213cff40e00a48e19664315131e8fb4363abf4991e026ca4dd5b2f9c97b","evidence_ids":["change_bc9946a65523e3cd"],"id":"page-009","kind":"chart","navigation":{"conclusion_indices":[0],"eyebrow":"结论01 · 规模与效率 · 图表依据","phase":"判断展开","purpose":"图表依据","section":"结论01 · 规模与效率"},"owner":"channels","period":"2024-06 至 2025-06","title":"付费广告投入产出低于去年同月","visual":{"block_indices":[0],"focus_indices":[],"label_notes":{},"relation":"evidence-comparison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2024-06","2025-06"],"population_sha256":"ec213b74d084076cb9db3b632d48a310add41995b95aa83568937d21d66139ae","rows":10950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证据与判断","text":"服饰最新退款金额占收入18.56%，前月为17.41%；最新数码为4.73%，家居为4.22%。"},{"label":"业务含义","text":"服饰收入仍增长，但退款比例也在上升，扩大获客可能同时放大售后压力。需要先对齐退款归属，再核验尺码、质量、物流等可能原因。"},{"label":"适用边界","text":"退款率是金额比例，不是退款订单率。缺少订单关联、退款发生时点及原因字段，不能把同月金额比直接解释为同批订单退款概率。"}],"chart_id":null,"content_sha256":"7f181f7821981eb3fa3d613b74077688ceb0da0ad828cad91e50ff42e848e767","evidence_ids":["change_03f7fb34e5085ffa","dimension_2"],"id":"page-010","kind":"chapter","navigation":{"conclusion_indices":[1],"eyebrow":"结论02 · 售后压力 · 证据与判断","phase":"判断展开","purpose":"证据与判断","section":"结论02 · 售后压力"},"owner":"refunds","period":"2024-01 至 2025-06","title":"服饰退款压力突出，应与投放增长同步处理","visual":{"block_indices":[0,1,2],"focus_indices":[],"relation":"reference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{"page":{"blocks":[{"label":"范围","text":"2025-05 至 2025-06；全体观测；11102条记录"}],"chart_id":"category-refund","content_sha256":"e1914e9adc852001f0bb7af38d18b3db1c59f9d5d2976d8ccb54d9c17e22c428","evidence_ids":["change_03f7fb34e5085ffa"],"id":"page-011","kind":"chart","navigation":{"conclusion_indices":[1],"eyebrow":"结论02 · 售后压力 · 图表依据","phase":"判断展开","purpose":"图表依据","section":"结论02 · 售后压力"},"owner":"refunds","period":"2025-05 至 2025-06","title":"服饰退款金额占收入最高且较前月上升","visual":{"block_indices":[0],"focus_indices":[],"label_notes":{},"relation":"evidence-comparison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证据与判断","text":"全期高价值客收入占比32.82%，营销成本占比15.85%；投入产出26.06x。沉睡唤醒群体投入产出5.87x。"},{"label":"业务含义","text":"可优先验证高价值客维护与转介绍的增量效果；唤醒活动需单独核对触达成本和有效回流，避免仅用收入规模评价。"},{"label":"适用边界","text":"没有客户唯一标识与层级历史，无法计算留存或生命周期价值；高价值标签可能本就依赖消费表现，组间差异不是运营因果证据。"}],"chart_id":null,"content_sha256":"df5b54302cb1f96a4b84cf87d463e599300d4010213edef1af87284acdadceea","evidence_ids":["dimension_3"],"id":"page-012","kind":"chapter","navigation":{"conclusion_indices":[2],"eyebrow":"结论03 · 客户经营 · 证据与判断","phase":"判断展开","purpose":"证据与判断","section":"结论03 · 客户经营"},"owner":"customers","period":"2024-01 至 2025-06","title":"高价值客表现较好，但存量优势不等于可复制增长","visual":{"block_indices":[0,1,2],"focus_indices":[],"relation":"reference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{"page":{"blocks":[{"label":"范围","text":"2024-01 至 2025-06；全体观测；100000条记录"}],"chart_id":"customer-roas","content_sha256":"ed59b68c71374f542ccf827db31c37f2c1498515b3731db4c239f9fa96756bf4","evidence_ids":["dimension_3"],"id":"page-013","kind":"chart","navigation":{"conclusion_indices":[2],"eyebrow":"结论03 · 客户经营 · 图表依据","phase":"判断展开","purpose":"图表依据","section":"结论03 · 客户经营"},"owner":"customers","period":"2024-01 至 2025-06","title":"高价值客投入产出高，沉睡唤醒群体低","visual":{"block_indices":[0],"focus_indices":[],"label_notes":{},"relation":"evidence-comparison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行动对象","text":"付费广告的投放配置与内容种草渠道的增量验证"},{"label":"依据","text":"付费广告收入同比下降、营销成本上升；内容种草增长较多，但短期回报也有回落。"},{"label":"执行步骤","text":"按相近受众与品类固定归因窗口，拆查定向、素材和活动；用有限预算对照验证渠道增量，不一次性搬迁预算。"}],"chart_id":null,"content_sha256":"6759f11eeec1bec45bc53cf90315491372a48b0cf9edf78b5932277fdc2dd174","evidence_ids":["change_6a132a7704ff900f","change_bc9946a65523e3cd","overview","trend"],"id":"page-014","kind":"action","navigation":{"conclusion_indices":[0],"eyebrow":"行动01 · 对应结论01 · 执行安排","phase":"行动安排","purpose":"执行安排","section":"行动01 · 对应结论01"},"owner":"action-1","period":"2024-01 至 2025-06","title":"先核验付费效率，再进行有限预算对照","visual":{"action_layout":{"basis":"先核验付费效率，再进行有限预算对照","block_index":2,"parts":[{"label":"固定归因窗口","text":"按相近受众与品类固定归因窗口，"},{"label":"拆查定向、素材和活动","text":"拆查定向、素材和活动；"},{"label":"有限预算对照","text":"用有限预算对照验证渠道增量，不一次性搬迁预算。"}],"relation":"sequence"},"block_indices":[0,1,2],"focus_indices":[],"relation":"execution-and-validation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,{"denominator":"同一已确认总体的两期对象并集，包含新增/退出；不存在的加总/计数为零，比率无定义时不伪造。变动为数学贡献，不等同因果。","filters":[],"periods":["2024-06","2025-06"],"population_sha256":"ec213b74d084076cb9db3b632d48a310add41995b95aa83568937d21d66139ae","rows":10950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验证信号","text":"同口径增量收入与扣除退款后的贡献改善，获客质量没有恶化。"},{"label":"行动边界","text":"原表没有完整成本和毛利，先补齐核算；回报下降或退款扩大时暂停追加。"}],"chart_id":null,"content_sha256":"c1d6d8319e1897152f3467777ae2a7ab50616e457db66e1599dbffa0f0bcfe52","evidence_ids":["change_6a132a7704ff900f","change_bc9946a65523e3cd","overview","trend"],"id":"page-015","kind":"action","navigation":{"conclusion_indices":[0],"eyebrow":"行动01 · 对应结论01 · 验证与边界","phase":"行动安排","purpose":"验证与边界","section":"行动01 · 对应结论01"},"owner":"action-1","period":"2024-01 至 2025-06","title":"先核验付费效率，再进行有限预算对照：验证与边界","visual":{"block_indices":[0,1],"focus_indices":[],"relation":"execution-and-validation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,{"denominator":"同一已确认总体的两期对象并集，包含新增/退出；不存在的加总/计数为零，比率无定义时不伪造。变动为数学贡献，不等同因果。","filters":[],"periods":["2024-06","2025-06"],"population_sha256":"ec213b74d084076cb9db3b632d48a310add41995b95aa83568937d21d66139ae","rows":10950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行动对象","text":"服饰品类的订单、退款记录及售后问题"},{"label":"依据","text":"服饰前后两月退款金额比例较高且上升，收入增长不能替代售后质量检查。"},{"label":"执行步骤","text":"关联订单与退款日期，按商品及原因核验，针对已确认问题进行有限范围商品说明、质量或履约改进。"}],"chart_id":null,"content_sha256":"baa9a13e1a200fd3ca0a82c766d2881288f3e36f0cccaf8641f89f0823f7bc23","evidence_ids":["change_03f7fb34e5085ffa","dimension_2"],"id":"page-016","kind":"action","navigation":{"conclusion_indices":[1],"eyebrow":"行动02 · 对应结论02 · 执行安排","phase":"行动安排","purpose":"执行安排","section":"行动02 · 对应结论02"},"owner":"action-2","period":"2024-01 至 2025-06","title":"优先核验服饰退款原因与归属时点","visual":{"action_layout":{"basis":"优先核验服饰退款原因与归属时点","block_index":2,"parts":[{"label":"关联订单与退款日期","text":"关联订单与退款日期，"},{"label":"核验","text":"按商品及原因核验，"},{"label":"有限范围","text":"针对已确认问题进行有限范围商品说明、质量或履约改进。"}],"relation":"parallel"},"block_indices":[0,1,2],"focus_indices":[],"relation":"execution-and-validation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验证信号","text":"同批订单相同观察窗口的退款金额比例下降，成交及投诉表现没有恶化。"},{"label":"行动边界","text":"未对齐退款窗口不设硬性团队考核，不以阻碍合理退款压低指标。"}],"chart_id":null,"content_sha256":"39a0d6ba7a94d64aba048ea65287a1b74aa0422cc392557a1ed72273523c626e","evidence_ids":["change_03f7fb34e5085ffa","dimension_2"],"id":"page-017","kind":"action","navigation":{"conclusion_indices":[1],"eyebrow":"行动02 · 对应结论02 · 验证与边界","phase":"行动安排","purpose":"验证与边界","section":"行动02 · 对应结论02"},"owner":"action-2","period":"2024-01 至 2025-06","title":"优先核验服饰退款原因与归属时点：验证与边界","visual":{"block_indices":[0,1],"focus_indices":[],"relation":"execution-and-validation","version":"presentation-visual/2"}},"source_model":"9abc861342b7f86462de4e9a12fcf6da888776d536cec157802e411865873ccf","projection":"8b6e8a29e7e4b1e6fb1869fe50ac2b30c2f8a5a74aa753a540b85fc2a3e18013","scopes":[{"denominator":"同一已确认总体的两期对象并集，包含新增/退出；不存在的加总/计数为零，比率无定义时不伪造。变动为数学贡献，不等同因果。","filters":[],"periods":["2025-05","2025-06"],"population_sha256":"cc9693f71597dedfebbf6f12aa14b33dd335e348973e68468126f7a4dd63397f","rows":11102,"source_sha256":"d14db2d70974437874e2c3f41aaa243bd7ad4812f89298576121357fc8fd00a7"},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行动对象","text":"高价值客的维护活动与沉睡唤醒人群的召回活动"},{"label":"依据","text":"高价值客与沉睡唤醒群体的投入产出差异较大，但标签和成本口径可能影响比较。"},{"label":"执行步骤","text":"补齐稳定客户标识和期初分层，在同一层内保留对照，分别验证维护、转介绍和唤醒活动。"}],"chart_id":null,"content_sha256":"e02105743fb85c915f805287217d80f4ffbb98c3d963f4a19e74a47be88ecf02","evidence_ids":["dimension_3"],"id":"page-018","kind":"action","navigation":{"conclusion_indices":[2],"eyebrow":"行动03 · 对应结论03 · 执行安排","phase":"行动安排","purpose":"执行安排","section":"行动03 · 对应结论03"},"owner":"action-3","period":"2024-01 至 2025-06","title":"对客户维护和唤醒分别验证增量","visual":{"action_layout":{"basis":"对客户维护和唤醒分别验证增量","block_index":2,"parts":[{"label":"补齐","text":"补齐稳定客户标识和期初分层，"},{"label":"保留对照","text":"在同一层内保留对照，"},{"label":"分别验证","text":"分别验证维护、转介绍和唤醒活动。"}],"relation":"parallel"},"block_indices":[0,1,2],"focus_indices":[],"relation":"execution-and-validation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验证信号","text":"同层同窗口的增量贡献改善，退订或投诉未增加。"},{"label":"行动边界","text":"未获得增量证据前不承诺生命周期价值，不将不同层级平均差异当作活动收益。"}],"chart_id":null,"content_sha256":"f44b890e9cee2d099e9b07b2cdcdd71c2dbc61b17eae92b10963d35cbd1e1823","evidence_ids":["dimension_3"],"id":"page-019","kind":"action","navigation":{"conclusion_indices":[2],"eyebrow":"行动03 · 对应结论03 · 验证与边界","phase":"行动安排","purpose":"验证与边界","section":"行动03 · 对应结论03"},"owner":"action-3","period":"2024-01 至 2025-06","title":"对客户维护和唤醒分别验证增量：验证与边界","visual":{"block_indices":[0,1],"focus_indices":[],"relation":"execution-and-validation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{"page":{"blocks":[{"label":"期间","text":"2024-01 至 2025-06"},{"label":"完整性处理","text":"排除未完成周期"}],"chart_id":null,"content_sha256":"4f79f163336d8c09ea1f4a3270fad535617153072d07693a56f5fa9d996f8c40","evidence_ids":["overview"],"id":"page-020","kind":"method","navigation":{"conclusion_indices":[],"eyebrow":"附录 · 数据范围","phase":"附录","purpose":"数据范围","section":"附录"},"owner":"method","period":"2024-01 至 2025-06","title":"数据范围与期间","visual":{"block_indices":[0,1],"focus_indices":[],"relation":"reference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{"page":{"blocks":[{"label":"收入","text":"收入：sum；单位 元"},{"label":"订单数","text":"订单数：sum；单位 单"},{"label":"转化率","text":"订单数 合计 ÷ 访问量 合计 × 100.0；单位 %"}],"chart_id":null,"content_sha256":"8d51a6578e99e5eda5c66d8d605ce8379c862276f4edc1c9b328948fe0c9743d","evidence_ids":["overview"],"id":"page-021","kind":"method","navigation":{"conclusion_indices":[],"eyebrow":"附录 · 指标定义","phase":"附录","purpose":"指标定义","section":"附录"},"owner":"method","period":"2024-01 至 2025-06","title":"指标定义","visual":{"block_indices":[0,1,2],"focus_indices":[],"relation":"reference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{"page":{"blocks":[{"label":"退款率","text":"退款金额 合计 ÷ 收入 合计 × 100.0；单位 %"},{"label":"营销成本","text":"营销成本：sum；单位 元"},{"label":"投入产出比（ROAS）","text":"收入 合计 ÷ 营销成本 合计 × 1.0；单位 x"}],"chart_id":null,"content_sha256":"5db7eaa41566507208c4fe5c35ea3d5e7dab54f018e31bb72ee947dadb7300ce","evidence_ids":["overview"],"id":"page-022","kind":"method","navigation":{"conclusion_indices":[],"eyebrow":"附录 · 指标定义","phase":"附录","purpose":"指标定义","section":"附录"},"owner":"method","period":"2024-01 至 2025-06","title":"指标定义（续）","visual":{"block_indices":[0,1,2],"focus_indices":[],"relation":"reference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page":{"blocks":[{"label":"转化率","text":"单行分母为零仍进入分子与分母合计；仅排除缺失配对，合计分母为零时不计算"},{"label":"退款率","text":"单行分母为零仍进入分子与分母合计；仅排除缺失配对，合计分母为零时不计算"},{"label":"投入产出比（ROAS）","text":"单行分母为零仍进入分子与分母合计；仅排除缺失配对，合计分母为零时不计算"}],"chart_id":null,"content_sha256":"d9f8c446cfa7bd248e83775596a8528238824b8f847ccb050575f5952d4ee21a","evidence_ids":["overview"],"id":"page-023","kind":"method","navigation":{"conclusion_indices":[],"eyebrow":"附录 · 分母与数据提醒","phase":"附录","purpose":"分母与数据提醒","section":"附录"},"owner":"method","period":"2024-01 至 2025-06","title":"分母处理与数据提醒","visual":{"block_indices":[0,1,2],"focus_indices":[],"relation":"reference","version":"presentation-visual/2"}},"source_model":"9abc861342b7f86462de4e9a12fcf6da888776d536cec157802e411865873ccf","projection":"8b6e8a29e7e4b1e6fb1869fe50ac2b30c2f8a5a74aa753a540b85fc2a3e18013","scopes":[{"denominator":"各指标按已确认聚合合同独立计算","filters":[],"periods":["2024-01","2024-02","2024-03","2024-04","2024-05","2024-06","2024-07","2024-08","2024-09","2024-10","2024-11","2024-12","2025-01","2025-02","2025-03","2025-04","2025-05","2025-06"],"population_sha256":"ef440f29f9463eac65fda8b2e1214628852802516a2b06ae1a1b020743b78a20","rows":100000,"source_sha256":"d14db2d70974437874e2c3f41aaa243bd7ad4812f89298576121357fc8fd00a7"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c6bcca9044f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d6f245378e49db" /><Relationship Type="http://schemas.openxmlformats.org/officeDocument/2006/relationships/slideLayout" Target="/ppt/slideLayouts/slideLayout1.xml" Id="R4389c747a96b40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89c747a96b40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b6477364742ed" /><Relationship Type="http://schemas.openxmlformats.org/officeDocument/2006/relationships/notesSlide" Target="/ppt/notesSlides/notesSlide1.xml" Id="R61ce7ec703b740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231279b6f4b66" /><Relationship Type="http://schemas.openxmlformats.org/officeDocument/2006/relationships/notesSlide" Target="/ppt/notesSlides/notesSlide2.xml" Id="R0a19649effa14a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08ec5b6424636" /><Relationship Type="http://schemas.openxmlformats.org/officeDocument/2006/relationships/notesSlide" Target="/ppt/notesSlides/notesSlide3.xml" Id="R9c26c590c36f41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e81355a2a47cf" /><Relationship Type="http://schemas.openxmlformats.org/officeDocument/2006/relationships/notesSlide" Target="/ppt/notesSlides/notesSlide4.xml" Id="Rd00226d0dbaa4b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ae1c54a9d4099" /><Relationship Type="http://schemas.openxmlformats.org/officeDocument/2006/relationships/chart" Target="/ppt/slides/charts/chart1.xml" Id="Rb411835fd77f464f" /><Relationship Type="http://schemas.openxmlformats.org/officeDocument/2006/relationships/notesSlide" Target="/ppt/notesSlides/notesSlide5.xml" Id="R15965a9ba66e44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fc186bfb94359" /><Relationship Type="http://schemas.openxmlformats.org/officeDocument/2006/relationships/chart" Target="/ppt/slides/charts/chart2.xml" Id="R749842a9de1043ea" /><Relationship Type="http://schemas.openxmlformats.org/officeDocument/2006/relationships/notesSlide" Target="/ppt/notesSlides/notesSlide6.xml" Id="R91652eede8454e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f3052c8324493" /><Relationship Type="http://schemas.openxmlformats.org/officeDocument/2006/relationships/notesSlide" Target="/ppt/notesSlides/notesSlide7.xml" Id="Rd9fa582d6cc745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43c599b1d49a1" /><Relationship Type="http://schemas.openxmlformats.org/officeDocument/2006/relationships/chart" Target="/ppt/slides/charts/chart3.xml" Id="R16bab57f6d8d4eef" /><Relationship Type="http://schemas.openxmlformats.org/officeDocument/2006/relationships/notesSlide" Target="/ppt/notesSlides/notesSlide8.xml" Id="R6fcc34702bcf4d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b2af61b394fb6" /><Relationship Type="http://schemas.openxmlformats.org/officeDocument/2006/relationships/chart" Target="/ppt/slides/charts/chart4.xml" Id="Rfa6579e6a34349f9" /><Relationship Type="http://schemas.openxmlformats.org/officeDocument/2006/relationships/notesSlide" Target="/ppt/notesSlides/notesSlide9.xml" Id="Re24030b4eb454f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8a8332737478a" /><Relationship Type="http://schemas.openxmlformats.org/officeDocument/2006/relationships/notesSlide" Target="/ppt/notesSlides/notesSlide10.xml" Id="R5773341c2b2a48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703fc55454544" /><Relationship Type="http://schemas.openxmlformats.org/officeDocument/2006/relationships/chart" Target="/ppt/slides/charts/chart5.xml" Id="R73c4afeb862c4eb4" /><Relationship Type="http://schemas.openxmlformats.org/officeDocument/2006/relationships/notesSlide" Target="/ppt/notesSlides/notesSlide11.xml" Id="R8360bb67a18447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f222acb1d4202" /><Relationship Type="http://schemas.openxmlformats.org/officeDocument/2006/relationships/notesSlide" Target="/ppt/notesSlides/notesSlide12.xml" Id="Rfa659e4585ba4c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519b6879241bf" /><Relationship Type="http://schemas.openxmlformats.org/officeDocument/2006/relationships/chart" Target="/ppt/slides/charts/chart6.xml" Id="Rddbaf123463e4136" /><Relationship Type="http://schemas.openxmlformats.org/officeDocument/2006/relationships/notesSlide" Target="/ppt/notesSlides/notesSlide13.xml" Id="R6bc0b36228c34d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d085375564fc9" /><Relationship Type="http://schemas.openxmlformats.org/officeDocument/2006/relationships/notesSlide" Target="/ppt/notesSlides/notesSlide14.xml" Id="R8bab5b1fd8284a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8d3855894423c" /><Relationship Type="http://schemas.openxmlformats.org/officeDocument/2006/relationships/notesSlide" Target="/ppt/notesSlides/notesSlide15.xml" Id="R2eb3a0ce5b4f45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cc4529ec64764" /><Relationship Type="http://schemas.openxmlformats.org/officeDocument/2006/relationships/notesSlide" Target="/ppt/notesSlides/notesSlide16.xml" Id="Ra396b724d33648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84ecc5c87472b" /><Relationship Type="http://schemas.openxmlformats.org/officeDocument/2006/relationships/notesSlide" Target="/ppt/notesSlides/notesSlide17.xml" Id="Rabaf5f90c90143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3319045434778" /><Relationship Type="http://schemas.openxmlformats.org/officeDocument/2006/relationships/notesSlide" Target="/ppt/notesSlides/notesSlide18.xml" Id="Rfb264eefecde4e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5089b113d48af" /><Relationship Type="http://schemas.openxmlformats.org/officeDocument/2006/relationships/notesSlide" Target="/ppt/notesSlides/notesSlide19.xml" Id="R82cafee9753446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1ecde540a4878" /><Relationship Type="http://schemas.openxmlformats.org/officeDocument/2006/relationships/notesSlide" Target="/ppt/notesSlides/notesSlide20.xml" Id="R574066ef1b2f48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21c6119b436c" /><Relationship Type="http://schemas.openxmlformats.org/officeDocument/2006/relationships/notesSlide" Target="/ppt/notesSlides/notesSlide21.xml" Id="R1224e272caf846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49265c8ab459f" /><Relationship Type="http://schemas.openxmlformats.org/officeDocument/2006/relationships/notesSlide" Target="/ppt/notesSlides/notesSlide22.xml" Id="Re2c4ef0674844ec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3ec8f761a44f7" /><Relationship Type="http://schemas.openxmlformats.org/officeDocument/2006/relationships/notesSlide" Target="/ppt/notesSlides/notesSlide23.xml" Id="R64502d4c76e543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收入</c:v>
          </c:tx>
          <c:spPr>
            <a:solidFill xmlns:a="http://schemas.openxmlformats.org/drawingml/2006/main">
              <a:srgbClr val="2457D6"/>
            </a:solidFill>
            <a:ln xmlns:a="http://schemas.openxmlformats.org/drawingml/2006/main" w="28575">
              <a:solidFill>
                <a:srgbClr val="2457D6"/>
              </a:solidFill>
            </a:ln>
          </c:spPr>
          <c:xVal>
            <c:numRef>
              <c:f>'Chart Data'!$A$2:$A$19</c:f>
              <c:numCache>
                <c:formatCode>General</c:formatCode>
                <c:ptCount val="18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</c:numCache>
            </c:numRef>
          </c:xVal>
          <c:yVal>
            <c:numRef>
              <c:f>'Chart Data'!$B$2:$B$19</c:f>
              <c:numCache>
                <c:formatCode>0.0,,"百万"</c:formatCode>
                <c:ptCount val="18"/>
                <c:pt idx="0">
                  <c:v>7233504.65</c:v>
                </c:pt>
                <c:pt idx="1">
                  <c:v>6931417.51</c:v>
                </c:pt>
                <c:pt idx="2">
                  <c:v>7645827.84</c:v>
                </c:pt>
                <c:pt idx="3">
                  <c:v>7299075.44</c:v>
                </c:pt>
                <c:pt idx="4">
                  <c:v>7786896.25</c:v>
                </c:pt>
                <c:pt idx="5">
                  <c:v>8321659.42</c:v>
                </c:pt>
                <c:pt idx="6">
                  <c:v>7949479.66</c:v>
                </c:pt>
                <c:pt idx="7">
                  <c:v>8146860.5</c:v>
                </c:pt>
                <c:pt idx="8">
                  <c:v>8690133.98</c:v>
                </c:pt>
                <c:pt idx="9">
                  <c:v>8381877.25</c:v>
                </c:pt>
                <c:pt idx="10">
                  <c:v>11905540.75</c:v>
                </c:pt>
                <c:pt idx="11">
                  <c:v>12657095.15</c:v>
                </c:pt>
                <c:pt idx="12">
                  <c:v>8934662.63</c:v>
                </c:pt>
                <c:pt idx="13">
                  <c:v>8117704.87</c:v>
                </c:pt>
                <c:pt idx="14">
                  <c:v>8909961.27</c:v>
                </c:pt>
                <c:pt idx="15">
                  <c:v>8762182.16</c:v>
                </c:pt>
                <c:pt idx="16">
                  <c:v>9299027.46</c:v>
                </c:pt>
                <c:pt idx="17">
                  <c:v>9852473.73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2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5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5000000"/>
      </c:valAx>
      <c:valAx>
        <c:axId val="48650112"/>
        <c:scaling>
          <c:orientation val="minMax"/>
          <c:max val="45809"/>
          <c:min val="45292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86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投入产出比（ROAS）</c:v>
          </c:tx>
          <c:spPr>
            <a:solidFill xmlns:a="http://schemas.openxmlformats.org/drawingml/2006/main">
              <a:srgbClr val="2457D6"/>
            </a:solidFill>
            <a:ln xmlns:a="http://schemas.openxmlformats.org/drawingml/2006/main" w="28575">
              <a:solidFill>
                <a:srgbClr val="2457D6"/>
              </a:solidFill>
            </a:ln>
          </c:spPr>
          <c:xVal>
            <c:numRef>
              <c:f>'Chart Data'!$A$2:$A$19</c:f>
              <c:numCache>
                <c:formatCode>General</c:formatCode>
                <c:ptCount val="18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</c:numCache>
            </c:numRef>
          </c:xVal>
          <c:yVal>
            <c:numRef>
              <c:f>'Chart Data'!$B$2:$B$19</c:f>
              <c:numCache>
                <c:formatCode>0.00</c:formatCode>
                <c:ptCount val="18"/>
                <c:pt idx="0">
                  <c:v>13.0417824473064</c:v>
                </c:pt>
                <c:pt idx="1">
                  <c:v>13.4950422189676</c:v>
                </c:pt>
                <c:pt idx="2">
                  <c:v>13.4069023534869</c:v>
                </c:pt>
                <c:pt idx="3">
                  <c:v>12.9632669496249</c:v>
                </c:pt>
                <c:pt idx="4">
                  <c:v>13.5703272015561</c:v>
                </c:pt>
                <c:pt idx="5">
                  <c:v>13.0000358991891</c:v>
                </c:pt>
                <c:pt idx="6">
                  <c:v>12.9818104602159</c:v>
                </c:pt>
                <c:pt idx="7">
                  <c:v>13.4284873416167</c:v>
                </c:pt>
                <c:pt idx="8">
                  <c:v>12.9933035429935</c:v>
                </c:pt>
                <c:pt idx="9">
                  <c:v>13.3005173726311</c:v>
                </c:pt>
                <c:pt idx="10">
                  <c:v>13.3916694866071</c:v>
                </c:pt>
                <c:pt idx="11">
                  <c:v>13.552882979675</c:v>
                </c:pt>
                <c:pt idx="12">
                  <c:v>14.0210709894562</c:v>
                </c:pt>
                <c:pt idx="13">
                  <c:v>13.4375355762915</c:v>
                </c:pt>
                <c:pt idx="14">
                  <c:v>13.2020752952447</c:v>
                </c:pt>
                <c:pt idx="15">
                  <c:v>9.88874006053878</c:v>
                </c:pt>
                <c:pt idx="16">
                  <c:v>10.200145548265</c:v>
                </c:pt>
                <c:pt idx="17">
                  <c:v>9.96263164397693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2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45809"/>
          <c:min val="45292"/>
        </c:scaling>
        <c:delete val="0"/>
        <c:axPos val="b"/>
        <c:numFmt formatCode="yyyy-mm"/>
        <c:majorTickMark val="none"/>
        <c:minorTickMark val="none"/>
        <c:tickLblPos val="low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86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收入前期</c:v>
          </c:tx>
          <c:spPr>
            <a:solidFill xmlns:a="http://schemas.openxmlformats.org/drawingml/2006/main">
              <a:srgbClr val="2457D6"/>
            </a:solidFill>
            <a:ln xmlns:a="http://schemas.openxmlformats.org/drawingml/2006/main" w="0">
              <a:solidFill>
                <a:srgbClr val="2457D6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付费广告</c:v>
                </c:pt>
                <c:pt idx="1">
                  <c:v>内容种草</c:v>
                </c:pt>
                <c:pt idx="2">
                  <c:v>自然搜索</c:v>
                </c:pt>
                <c:pt idx="3">
                  <c:v>转介绍</c:v>
                </c:pt>
              </c:strCache>
            </c:strRef>
          </c:cat>
          <c:val>
            <c:numRef>
              <c:f>'Chart Data'!$B$2:$B$5</c:f>
              <c:numCache>
                <c:formatCode>0.0,,"百万"</c:formatCode>
                <c:ptCount val="4"/>
                <c:pt idx="0">
                  <c:v>2667587.41</c:v>
                </c:pt>
                <c:pt idx="1">
                  <c:v>1781503.74</c:v>
                </c:pt>
                <c:pt idx="2">
                  <c:v>2732809.95</c:v>
                </c:pt>
                <c:pt idx="3">
                  <c:v>1139758.32</c:v>
                </c:pt>
              </c:numCache>
            </c:numRef>
          </c:val>
        </c:ser>
        <c:ser>
          <c:idx val="1"/>
          <c:order val="1"/>
          <c:tx>
            <c:v>收入本期</c:v>
          </c:tx>
          <c:spPr>
            <a:solidFill xmlns:a="http://schemas.openxmlformats.org/drawingml/2006/main">
              <a:srgbClr val="0F6B4C"/>
            </a:solidFill>
            <a:ln xmlns:a="http://schemas.openxmlformats.org/drawingml/2006/main" w="0">
              <a:solidFill>
                <a:srgbClr val="0F6B4C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付费广告</c:v>
                </c:pt>
                <c:pt idx="1">
                  <c:v>内容种草</c:v>
                </c:pt>
                <c:pt idx="2">
                  <c:v>自然搜索</c:v>
                </c:pt>
                <c:pt idx="3">
                  <c:v>转介绍</c:v>
                </c:pt>
              </c:strCache>
            </c:strRef>
          </c:cat>
          <c:val>
            <c:numRef>
              <c:f>'Chart Data'!$D$2:$D$5</c:f>
              <c:numCache>
                <c:formatCode>0.0,,"百万"</c:formatCode>
                <c:ptCount val="4"/>
                <c:pt idx="0">
                  <c:v>2101965.65</c:v>
                </c:pt>
                <c:pt idx="1">
                  <c:v>3272343.12</c:v>
                </c:pt>
                <c:pt idx="2">
                  <c:v>3110955.1</c:v>
                </c:pt>
                <c:pt idx="3">
                  <c:v>1367209.86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2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000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2238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投入产出比（ROAS）前期</c:v>
          </c:tx>
          <c:spPr>
            <a:solidFill xmlns:a="http://schemas.openxmlformats.org/drawingml/2006/main">
              <a:srgbClr val="2457D6"/>
            </a:solidFill>
            <a:ln xmlns:a="http://schemas.openxmlformats.org/drawingml/2006/main" w="0">
              <a:solidFill>
                <a:srgbClr val="2457D6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付费广告</c:v>
                </c:pt>
                <c:pt idx="1">
                  <c:v>内容种草</c:v>
                </c:pt>
                <c:pt idx="2">
                  <c:v>自然搜索</c:v>
                </c:pt>
                <c:pt idx="3">
                  <c:v>转介绍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5.84095081125904</c:v>
                </c:pt>
                <c:pt idx="1">
                  <c:v>17.3035950413624</c:v>
                </c:pt>
                <c:pt idx="2">
                  <c:v>50.7256885846085</c:v>
                </c:pt>
                <c:pt idx="3">
                  <c:v>42.8616085010336</c:v>
                </c:pt>
              </c:numCache>
            </c:numRef>
          </c:val>
        </c:ser>
        <c:ser>
          <c:idx val="1"/>
          <c:order val="1"/>
          <c:tx>
            <c:v>投入产出比（ROAS）本期</c:v>
          </c:tx>
          <c:spPr>
            <a:solidFill xmlns:a="http://schemas.openxmlformats.org/drawingml/2006/main">
              <a:srgbClr val="0F6B4C"/>
            </a:solidFill>
            <a:ln xmlns:a="http://schemas.openxmlformats.org/drawingml/2006/main" w="0">
              <a:solidFill>
                <a:srgbClr val="0F6B4C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付费广告</c:v>
                </c:pt>
                <c:pt idx="1">
                  <c:v>内容种草</c:v>
                </c:pt>
                <c:pt idx="2">
                  <c:v>自然搜索</c:v>
                </c:pt>
                <c:pt idx="3">
                  <c:v>转介绍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2.86827327072772</c:v>
                </c:pt>
                <c:pt idx="1">
                  <c:v>20.3952964353047</c:v>
                </c:pt>
                <c:pt idx="2">
                  <c:v>47.3043592105547</c:v>
                </c:pt>
                <c:pt idx="3">
                  <c:v>45.7273975104301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2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2238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退款率前期</c:v>
          </c:tx>
          <c:spPr>
            <a:solidFill xmlns:a="http://schemas.openxmlformats.org/drawingml/2006/main">
              <a:srgbClr val="2457D6"/>
            </a:solidFill>
            <a:ln xmlns:a="http://schemas.openxmlformats.org/drawingml/2006/main" w="0">
              <a:solidFill>
                <a:srgbClr val="2457D6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办公</c:v>
                </c:pt>
                <c:pt idx="1">
                  <c:v>家居</c:v>
                </c:pt>
                <c:pt idx="2">
                  <c:v>数码</c:v>
                </c:pt>
                <c:pt idx="3">
                  <c:v>服饰</c:v>
                </c:pt>
                <c:pt idx="4">
                  <c:v>食品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2.58288688237737</c:v>
                </c:pt>
                <c:pt idx="1">
                  <c:v>4.22938774322675</c:v>
                </c:pt>
                <c:pt idx="2">
                  <c:v>4.24676339775036</c:v>
                </c:pt>
                <c:pt idx="3">
                  <c:v>17.4121567944139</c:v>
                </c:pt>
                <c:pt idx="4">
                  <c:v>2.49013437077528</c:v>
                </c:pt>
              </c:numCache>
            </c:numRef>
          </c:val>
        </c:ser>
        <c:ser>
          <c:idx val="1"/>
          <c:order val="1"/>
          <c:tx>
            <c:v>退款率本期</c:v>
          </c:tx>
          <c:spPr>
            <a:solidFill xmlns:a="http://schemas.openxmlformats.org/drawingml/2006/main">
              <a:srgbClr val="0F6B4C"/>
            </a:solidFill>
            <a:ln xmlns:a="http://schemas.openxmlformats.org/drawingml/2006/main" w="0">
              <a:solidFill>
                <a:srgbClr val="0F6B4C"/>
              </a:solidFill>
            </a:ln>
          </c:spPr>
          <c:cat>
            <c:strRef>
              <c:f>'Chart Data'!$C$2:$C$6</c:f>
              <c:strCache>
                <c:ptCount val="5"/>
                <c:pt idx="0">
                  <c:v>办公</c:v>
                </c:pt>
                <c:pt idx="1">
                  <c:v>家居</c:v>
                </c:pt>
                <c:pt idx="2">
                  <c:v>数码</c:v>
                </c:pt>
                <c:pt idx="3">
                  <c:v>服饰</c:v>
                </c:pt>
                <c:pt idx="4">
                  <c:v>食品</c:v>
                </c:pt>
              </c:strCache>
            </c:str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2.725609643928</c:v>
                </c:pt>
                <c:pt idx="1">
                  <c:v>4.21674103575594</c:v>
                </c:pt>
                <c:pt idx="2">
                  <c:v>4.73111642034314</c:v>
                </c:pt>
                <c:pt idx="3">
                  <c:v>18.5590482800958</c:v>
                </c:pt>
                <c:pt idx="4">
                  <c:v>2.43242922806516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2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2238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投入产出比（ROAS）</c:v>
          </c:tx>
          <c:spPr>
            <a:solidFill xmlns:a="http://schemas.openxmlformats.org/drawingml/2006/main">
              <a:srgbClr val="2457D6"/>
            </a:solidFill>
            <a:ln xmlns:a="http://schemas.openxmlformats.org/drawingml/2006/main" w="0">
              <a:solidFill>
                <a:srgbClr val="2457D6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高价值客</c:v>
                </c:pt>
                <c:pt idx="1">
                  <c:v>活跃客</c:v>
                </c:pt>
                <c:pt idx="2">
                  <c:v>沉睡唤醒</c:v>
                </c:pt>
                <c:pt idx="3">
                  <c:v>新客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26.0556874762055</c:v>
                </c:pt>
                <c:pt idx="1">
                  <c:v>13.6894956848589</c:v>
                </c:pt>
                <c:pt idx="2">
                  <c:v>5.86570353878859</c:v>
                </c:pt>
                <c:pt idx="3">
                  <c:v>7.99613673518671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2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2CC33-0BD4-4986-A72A-40D3BB45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65FC7-0A8A-4B2F-8930-A9B49995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572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全渠道零售经营复盘（合成数据）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331FA-D2FD-48CD-8688-4EC3ABBA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D3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FD3F6"/>
                </a:solidFill>
                <a:latin typeface="Microsoft YaHei"/>
                <a:ea typeface="Microsoft YaHei"/>
                <a:cs typeface="Microsoft YaHei"/>
              </a:rPr>
              <a:t>2024-01 至 2025-06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D6A0A-2D5E-461E-9A9F-747A5FAE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D3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FD3F6"/>
                </a:solidFill>
                <a:latin typeface="Microsoft YaHei"/>
                <a:ea typeface="Microsoft YaHei"/>
                <a:cs typeface="Microsoft YaHei"/>
              </a:rPr>
              <a:t>复盘全渠道经营表现，定位增长机会、效率风险与下一周期行动</a:t>
            </a:r>
          </a:p>
        </p:txBody>
      </p:sp>
    </p:spTree>
    <p:extLst>
      <p:ext uri="{BB962C8B-B14F-4D97-AF65-F5344CB8AC3E}">
        <p14:creationId xmlns:p14="http://schemas.microsoft.com/office/powerpoint/2010/main" val="15130563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693A6-4FF4-4766-9226-E2AD8321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FF7E8-8933-4302-81C0-F08311BA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F7474-8854-40AA-9FD2-450E226D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48E32-9A04-431B-956E-2CC4CEE8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71CBB-E11A-4D62-BCC6-1D5B0AB1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28800"/>
            <a:ext cx="966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收入增长但投入产出回落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51B5C-7EEA-4766-86DD-B23925D4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9667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收入增长伴随投入产出回落，先核验付费广告效率，谨慎验证内容种草增量。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C8233-B941-4722-9B48-CA1B0CA6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476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194AD-9995-4DE1-A8CA-C4CD582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DA4E4-5B60-4452-8061-217C871E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24225"/>
            <a:ext cx="966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服饰扩量需同步处理退款压力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5C502-7E92-4169-B188-820D5A12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9667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服饰退款压力突出，扩量与售后改进需要同时安排。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2D79F-4F7E-4120-AAF3-40319F07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76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67984-FC4C-44C2-8AE4-8468604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BEF98-F7F0-43DE-A2BB-FCA1CBC0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966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分层优势不等于可复制增量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C9209-2669-4845-9721-7E4CAE8A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76850"/>
            <a:ext cx="9667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客户分层可提供验证方向，平均差异不能当作可复制的增量回报。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6268D-B9AB-4F71-B4FC-4AA954D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开场 · 核心判断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CF825-6322-4C0E-91CD-34C8F546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B9F48-C848-46FA-A75D-FD5703F5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02 / 23</a:t>
            </a:r>
          </a:p>
        </p:txBody>
      </p:sp>
    </p:spTree>
    <p:extLst>
      <p:ext uri="{BB962C8B-B14F-4D97-AF65-F5344CB8AC3E}">
        <p14:creationId xmlns:p14="http://schemas.microsoft.com/office/powerpoint/2010/main" val="14851532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C15BB-5305-4CD5-BFED-C6403E97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CC836-4C01-41D9-9E4B-686FD0D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分析期总体概况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88ED3-90D9-4701-A8A8-4F4AD45F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2024-01 至 2025-06 · 全分析期整体口径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46626-5935-45D4-921A-2F97AA11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收入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D4D0E-C96C-4DEA-A897-08AA6809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156,825,380.52元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A545D-3B59-4D2E-9049-43C2E15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66DDA-32CB-44E0-9E50-9C298E2D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3C69D-90E6-4EA6-8E0B-EF089765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订单数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A3B1F-4269-4A6B-9051-A4FA93D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392,817单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F52A2-B859-49A2-9A10-86199729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33AA2-D8DB-4B7F-AA15-D1CE5BDA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5E8AF-1248-41AC-BF9B-7A5B59C3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转化率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3FDFF-BF83-4B6D-84F6-2907502F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4.81%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E3574-D058-42D9-A876-B4F85C5A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BEC05-D659-4360-AF4E-144B895F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A9320-44DC-420E-A982-618EE5A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退款率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81AD5-8544-4219-99CB-6C7568D6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5.45%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39836-E1F6-4A6C-B269-B37EAE5A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14875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72BC7-94EA-40EC-A5C1-43D34DE0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148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4AE49-CD5D-472E-B346-82AD7A6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营销成本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D12D0-AC13-4C89-9734-67952A24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12,459,443.39元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21765-5EBC-4D9F-8493-36B80750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C4338-3AF0-4EFF-A352-FBEA28D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9F976-17BD-41E1-A376-C1A90165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43475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投入产出比（ROAS）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06C8F3-7DDD-4BAB-9C93-7A6FDA1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00675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12.59x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51AC9B-9C01-4F69-91FB-6B66B51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096000"/>
            <a:ext cx="527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247E1-6E32-447E-9882-942A2AE4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0960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F668C-81DB-4CDB-B5B5-F65DF611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全局背景 · 经营基本盘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4DF72-1068-46C9-9E8B-F08749AC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全局背景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D90D1-3CE2-4B4B-BD70-6792B929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03 / 23</a:t>
            </a:r>
          </a:p>
        </p:txBody>
      </p:sp>
    </p:spTree>
    <p:extLst>
      <p:ext uri="{BB962C8B-B14F-4D97-AF65-F5344CB8AC3E}">
        <p14:creationId xmlns:p14="http://schemas.microsoft.com/office/powerpoint/2010/main" val="15932407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19D8C-48DD-4131-93AA-6E0F00F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9C650-B137-4109-8AE6-F311D46F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收入扩大，营销投入产出却低于去年同期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FED15-A962-43DF-8BBB-D70147DA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证据与判断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222D0-8E47-46E5-8650-8742BCB0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最新月收入9,852,473.73元，去年同月为8,321,659.42元；营销投入产出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从13x降至9.96x。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D11C1-FB41-4B5A-A137-8F2E7143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8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业务含义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453C9-27B4-469A-A901-7B86522B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9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收入增长需要同时看营销成本与退款。最新月退款金额占收入6.82%，高于去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年同期的5.29%。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EE7F6-FBA0-4A3B-96CD-1B514FA9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5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72C87-FBB7-4DBD-9B24-61F56DBC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46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投入产出以收入除以已记录营销成本，不含毛利、履约及全部间接成本；也不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代表广告带来的增量回报。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F8DA9-3D6B-4058-9A01-729637DC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结论01 · 规模与效率 · 证据与判断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CB2FC-A4EE-4D9C-97BF-8138CE52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40F58-219E-48DF-9AF3-6A5949B7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04 / 23</a:t>
            </a:r>
          </a:p>
        </p:txBody>
      </p:sp>
    </p:spTree>
    <p:extLst>
      <p:ext uri="{BB962C8B-B14F-4D97-AF65-F5344CB8AC3E}">
        <p14:creationId xmlns:p14="http://schemas.microsoft.com/office/powerpoint/2010/main" val="7041168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B0798-310A-43F9-BF0B-A1F2BFA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06917-D775-4851-A1A6-A15D2685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最新月收入高于去年同月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D3A5D-2A79-419B-B59C-0793187C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2024-01 至 2025-06；全体观测；100000条记录；单位：元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19125" y="1943100"/>
          <a:ext xmlns:a="http://schemas.openxmlformats.org/drawingml/2006/main" cx="108108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11835fd77f464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18811-0B29-4A85-BAE0-46F90BF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合成样本的描述性比较，不证明因果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29518-421B-464A-9460-EEEDD24E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结论01 · 规模与效率 · 图表依据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21007-02E4-4173-BB11-80C338A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F37C5-3346-4D5B-916E-5D403B03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05 / 23</a:t>
            </a:r>
          </a:p>
        </p:txBody>
      </p:sp>
    </p:spTree>
    <p:extLst>
      <p:ext uri="{BB962C8B-B14F-4D97-AF65-F5344CB8AC3E}">
        <p14:creationId xmlns:p14="http://schemas.microsoft.com/office/powerpoint/2010/main" val="1460746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91534-8A0F-4197-813C-F7B715B8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F89BB-85E8-4828-8886-3A61AB64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近期营销投入产出低于去年同期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E0FCE-678F-485E-BA8D-FCD0BA3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2024-01 至 2025-06；全体观测；100000条记录；单位：x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19125" y="1943100"/>
          <a:ext xmlns:a="http://schemas.openxmlformats.org/drawingml/2006/main" cx="108108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9842a9de1043e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DBC02-B38A-4F7A-8AAE-2A7A37A6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收入除以已记录营销成本，非净利润回报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9CE1B-1315-43DD-81DF-3DEC19F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结论01 · 规模与效率 · 图表依据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E5E03-B9F8-49F6-B512-19E02385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C75FF-0F8D-4D62-9A31-26FDC6BC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06 / 23</a:t>
            </a:r>
          </a:p>
        </p:txBody>
      </p:sp>
    </p:spTree>
    <p:extLst>
      <p:ext uri="{BB962C8B-B14F-4D97-AF65-F5344CB8AC3E}">
        <p14:creationId xmlns:p14="http://schemas.microsoft.com/office/powerpoint/2010/main" val="19608629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09BEA-6910-42E8-9D29-CA183581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FF848-6C17-43A6-9CEF-83AB8E3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内容种草带来较多增长，付费广告效率需优先复核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941D7-FB77-4CE4-A6BE-E36582C1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证据与判断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53542-A326-4264-BE63-25C88E5C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内容种草较去年同月新增收入1,490,839.38元；付费广告收入从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2,667,587.41元降至2,101,965.65元。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D2E57-AC61-46F3-BD2F-772DF99B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8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业务含义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E89D9-C59F-402B-B1CA-1144F173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9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付费广告营销成本从456,704.31元升至732,833.12元，投入产出降至2.87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x。内容种草投入产出20.4x，但也低于前月20.94x，不宜无条件扩大。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6BE1D-4976-4555-A83D-B593F644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5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42479-DA41-4411-9FE0-A984013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46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对比去年同月有助于减少月份差异，但未控制素材、定向、活动及归因规则；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渠道间成本覆盖不同，不能按平均回报机械搬预算。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B489F-92A8-4763-9B1E-B5CFA9D2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结论01 · 规模与效率 · 证据与判断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2D53A-8C94-45AF-A6E7-533F18D5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C8293-E7DA-46AA-BE0B-6160F2C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07 / 23</a:t>
            </a:r>
          </a:p>
        </p:txBody>
      </p:sp>
    </p:spTree>
    <p:extLst>
      <p:ext uri="{BB962C8B-B14F-4D97-AF65-F5344CB8AC3E}">
        <p14:creationId xmlns:p14="http://schemas.microsoft.com/office/powerpoint/2010/main" val="10129982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84330-5F4E-45BA-91AE-C2A25A2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73788-5868-43DC-A935-A1A71574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内容种草收入同比增长，付费广告下降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F457C-1E94-4816-8C0B-F569D911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单位：元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971675"/>
          <a:ext xmlns:a="http://schemas.openxmlformats.org/drawingml/2006/main" cx="10810875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bab57f6d8d4ee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BA99F-9761-4A23-8CD2-49ECEC37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2024-06 至 2025-06；全体观测；10950条记录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B962B-0D5F-45A4-BF0A-12D2E1E2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05550"/>
            <a:ext cx="1093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前期为去年六月，本期为今年六月；描述性归因，不证明因果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2372F-0660-461E-8CE8-9134A9B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结论01 · 规模与效率 · 图表依据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88A06-85E8-4548-9DC7-A27F1AD8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B4816-7CB7-4B56-98B5-78E59B23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08 / 23</a:t>
            </a:r>
          </a:p>
        </p:txBody>
      </p:sp>
    </p:spTree>
    <p:extLst>
      <p:ext uri="{BB962C8B-B14F-4D97-AF65-F5344CB8AC3E}">
        <p14:creationId xmlns:p14="http://schemas.microsoft.com/office/powerpoint/2010/main" val="4040321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0EC85-5FB7-406D-BF93-C7EBCC8C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F9EAC-1CAD-46E7-9E86-3E9BEC0F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付费广告投入产出低于去年同月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B3C9E-52D5-44FC-A0D3-A8E0F7CA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2024-06 至 2025-06；全体观测；10950条记录；单位：x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19125" y="1943100"/>
          <a:ext xmlns:a="http://schemas.openxmlformats.org/drawingml/2006/main" cx="108108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6579e6a34349f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DD2AE-0429-4AC4-915F-A77BE304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前期去年六月，本期今年六月；各渠道成本按原表记录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6DB9B-F7CD-4FE5-93B1-F44B9BA4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结论01 · 规模与效率 · 图表依据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BD0E7-EA0D-4B25-94CE-BA0C9912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505CF-9DA1-4259-992E-91667798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09 / 23</a:t>
            </a:r>
          </a:p>
        </p:txBody>
      </p:sp>
    </p:spTree>
    <p:extLst>
      <p:ext uri="{BB962C8B-B14F-4D97-AF65-F5344CB8AC3E}">
        <p14:creationId xmlns:p14="http://schemas.microsoft.com/office/powerpoint/2010/main" val="953333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1BD2E-564D-4CBB-A656-CE5483EB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84B8F-BE19-4789-89D5-5156EA04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服饰退款压力突出，应与投放增长同步处理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E685A-BDB6-420B-8DCF-50FC1238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证据与判断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3623C-53F5-4814-91CB-92FA569E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服饰最新退款金额占收入18.56%，前月为17.41%；最新数码为4.73%，家居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为4.22%。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67CD5-90AC-44FF-9910-06E7B51B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8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业务含义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5BD3-896E-41C5-B157-AC730A5F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9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服饰收入仍增长，但退款比例也在上升，扩大获客可能同时放大售后压力。需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要先对齐退款归属，再核验尺码、质量、物流等可能原因。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7247B-9601-42B2-A87B-D6D259DA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5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7D291-EFE4-4909-B387-8CC0274B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46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退款率是金额比例，不是退款订单率。缺少订单关联、退款发生时点及原因字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段，不能把同月金额比直接解释为同批订单退款概率。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0427C-481C-49FA-806E-D5AC83D0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结论02 · 售后压力 · 证据与判断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5C4E1-E08A-4651-B471-6644A5B4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59AC1-7F82-45F9-8A97-C8A6356B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10 / 23</a:t>
            </a:r>
          </a:p>
        </p:txBody>
      </p:sp>
    </p:spTree>
    <p:extLst>
      <p:ext uri="{BB962C8B-B14F-4D97-AF65-F5344CB8AC3E}">
        <p14:creationId xmlns:p14="http://schemas.microsoft.com/office/powerpoint/2010/main" val="9077806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19844-25EC-48EC-B35E-978CEFBF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071BB-D069-4460-A980-D3A98AEC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服饰退款金额占收入最高且较前月上升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FEAE8-80B1-41F7-8627-53666CFB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2025-05 至 2025-06；全体观测；11102条记录；单位：%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19125" y="1943100"/>
          <a:ext xmlns:a="http://schemas.openxmlformats.org/drawingml/2006/main" cx="108108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c4afeb862c4eb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26335-5AFA-4066-8649-1B3176A8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前期五月，本期六月；退款金额除以收入，非退款订单率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C0F33-FD20-448B-9B51-3A878E9A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结论02 · 售后压力 · 图表依据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FC1CB-70CD-454D-8016-7EF06540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28859-A017-4F6E-ACAA-D3E98386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11 / 23</a:t>
            </a:r>
          </a:p>
        </p:txBody>
      </p:sp>
    </p:spTree>
    <p:extLst>
      <p:ext uri="{BB962C8B-B14F-4D97-AF65-F5344CB8AC3E}">
        <p14:creationId xmlns:p14="http://schemas.microsoft.com/office/powerpoint/2010/main" val="2016524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39163-4444-4AEB-8EB2-2BBC6818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BA393-68EF-4B88-8469-21461A84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高价值客表现较好，但存量优势不等于可复制增长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7614C-A821-4068-90B6-C8416D92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证据与判断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A82D6-203E-44A5-B7B1-1AC95B4F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全期高价值客收入占比32.82%，营销成本占比15.85%；投入产出26.06x。沉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睡唤醒群体投入产出5.87x。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F7B0D-2026-429E-9C4D-8DA8A26D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8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业务含义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21FDC-2EBE-44ED-B078-0C0162CC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9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可优先验证高价值客维护与转介绍的增量效果；唤醒活动需单独核对触达成本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和有效回流，避免仅用收入规模评价。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FEAE7-E250-4FEC-926F-AFA9B6C4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5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B87C7-851E-48E2-A2A4-5C5813E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46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没有客户唯一标识与层级历史，无法计算留存或生命周期价值；高价值标签可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能本就依赖消费表现，组间差异不是运营因果证据。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E80AD-55B9-4254-AF3C-A2EFEB36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结论03 · 客户经营 · 证据与判断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3AF18-6AC7-4916-8EFD-0AFC3849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7DFD7-BDB9-45DB-9121-412F8E21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12 / 23</a:t>
            </a:r>
          </a:p>
        </p:txBody>
      </p:sp>
    </p:spTree>
    <p:extLst>
      <p:ext uri="{BB962C8B-B14F-4D97-AF65-F5344CB8AC3E}">
        <p14:creationId xmlns:p14="http://schemas.microsoft.com/office/powerpoint/2010/main" val="20147047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21067-BADE-45C5-80C9-73B94BE3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8845A-9F9D-484C-A132-1964EE32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高价值客投入产出高，沉睡唤醒群体低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5E949-D51A-453A-AD5D-0F7EF9A5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2024-01 至 2025-06；全体观测；100000条记录；单位：x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19125" y="1943100"/>
          <a:ext xmlns:a="http://schemas.openxmlformats.org/drawingml/2006/main" cx="108108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baf123463e413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74CF3-2511-4BD7-B318-198E0AE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全期记录汇总，非独立客户终身价值；收入除以营销成本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20C32-B57C-4979-8913-AA5C34E9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结论03 · 客户经营 · 图表依据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35CDF-EF7B-45C9-AB97-7D2B7A94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判断展开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C27F2-D2F9-4661-9E34-B13A15F3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13 / 23</a:t>
            </a:r>
          </a:p>
        </p:txBody>
      </p:sp>
    </p:spTree>
    <p:extLst>
      <p:ext uri="{BB962C8B-B14F-4D97-AF65-F5344CB8AC3E}">
        <p14:creationId xmlns:p14="http://schemas.microsoft.com/office/powerpoint/2010/main" val="2040665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334E1-2CE6-41E0-B939-6ABBDFBE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8A79C-1FE4-444C-B317-0DBE261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先核验付费效率，再进行有限预算对照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520D8-477A-4A99-BD5A-24BF9F4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BF369-8239-40B5-AE9A-A08137DA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95475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付费广告的投放配置与内容种草渠道的增量验证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0A266-E4B7-4658-98F8-26BF1807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C0897-00AA-41C3-8F7C-6143462A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EA44E-4444-44F3-A90C-045E2CC4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付费广告收入同比下降、营销成本上升；内容种草增长较多，但短期回报也有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回落。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0D6BB-250E-49AE-BC92-EFE936F2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101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56ED7-E58B-41A5-A22A-3793E9E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执行步骤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CC13C-FF42-4AA5-8022-2229943F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72025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按相近受众与品类固定归因窗口，拆查定向、素材和活动；用有限预算对照验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证渠道增量，不一次性搬迁预算。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9D895-6B51-4120-A0F2-8E187534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行动01 · 对应结论01 · 执行安排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565F9-DB2E-4BC4-A258-256F6EC8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行动安排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34CFC-8BC0-4CDF-838B-FCE7A8EB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9125492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DAA95-8947-4C4D-9A9E-8B5646A1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CCE69-6A62-42DE-8534-97ED5574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先核验付费效率，再进行有限预算对照：验证与边界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A04BC-211F-423C-866A-6FED21A2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验证信号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48243-E70E-4DD5-904D-BFF2ED24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857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同口径增量收入与扣除退款后的贡献改善，获客质量没有恶化。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DDA48-2691-461A-B504-EC0E84C4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553C9-D6B8-46F0-BC5B-8F0EA37B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81AB1-53F6-43C0-A85F-56472E66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14825"/>
            <a:ext cx="857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原表没有完整成本和毛利，先补齐核算；回报下降或退款扩大时暂停追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FA7E5-0135-48A7-A6BC-6018DDB0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行动01 · 对应结论01 · 验证与边界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F2C61-E646-4C45-BD6D-621E6EE5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行动安排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015AB-85A7-45FD-86E0-82C1213A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15 / 23</a:t>
            </a:r>
          </a:p>
        </p:txBody>
      </p:sp>
    </p:spTree>
    <p:extLst>
      <p:ext uri="{BB962C8B-B14F-4D97-AF65-F5344CB8AC3E}">
        <p14:creationId xmlns:p14="http://schemas.microsoft.com/office/powerpoint/2010/main" val="118987035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2DFBA-7DD2-448B-BE6E-D8207E1F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028C8-5C63-4946-904E-908B1D7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优先核验服饰退款原因与归属时点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BDA85-5946-45F5-A59C-4538B4BE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032B7-A590-4F9A-AAF8-53A77CDD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95475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服饰品类的订单、退款记录及售后问题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92070-4A25-47E7-8C77-F42E2EC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87A46-F0E9-4F76-87A3-89B279B8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AD863-8ABE-4C61-A5E2-94F7A9FE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服饰前后两月退款金额比例较高且上升，收入增长不能替代售后质量检查。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2647F-D7D7-44F1-8275-18E5E1B0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101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4C877-D8B2-43DA-AF45-A123465A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执行步骤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2B333-40C3-4DBD-A3DB-A1FFEF32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72025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关联订单与退款日期，按商品及原因核验，针对已确认问题进行有限范围商品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说明、质量或履约改进。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06E84-BBA7-4521-9454-76916014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行动02 · 对应结论02 · 执行安排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2C9A3-D62D-4F1A-959E-0BAB69E9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行动安排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2596F-4A70-4907-A0B9-87422F21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16 / 23</a:t>
            </a:r>
          </a:p>
        </p:txBody>
      </p:sp>
    </p:spTree>
    <p:extLst>
      <p:ext uri="{BB962C8B-B14F-4D97-AF65-F5344CB8AC3E}">
        <p14:creationId xmlns:p14="http://schemas.microsoft.com/office/powerpoint/2010/main" val="20351720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1EA78-CF3C-4720-9B53-F929B200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90064-D262-465A-92F2-63C7D1C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优先核验服饰退款原因与归属时点：验证与边界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EFA9E-5211-4D94-B298-C7699873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验证信号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F1D88-2094-404C-B6AB-AA0628C7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857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同批订单相同观察窗口的退款金额比例下降，成交及投诉表现没有恶化。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9B6FF-C47E-4864-8937-31D36B69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F4D0F-0A4A-4D79-BA02-6EE0E750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D1D74-6E0A-4C3C-8F06-1A67D15F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14825"/>
            <a:ext cx="857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未对齐退款窗口不设硬性团队考核，不以阻碍合理退款压低指标。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5E74D-9EE1-434F-92A2-5922D003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行动02 · 对应结论02 · 验证与边界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6BDD5-C6E3-4BF0-8F38-115CE20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行动安排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01E2C-1447-4C52-ABC7-60AAB09A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17 / 23</a:t>
            </a:r>
          </a:p>
        </p:txBody>
      </p:sp>
    </p:spTree>
    <p:extLst>
      <p:ext uri="{BB962C8B-B14F-4D97-AF65-F5344CB8AC3E}">
        <p14:creationId xmlns:p14="http://schemas.microsoft.com/office/powerpoint/2010/main" val="130227290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66285-53E9-46B2-81F1-CF2ADA0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CFEE7-1757-4389-BDD2-8DC2D30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对客户维护和唤醒分别验证增量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AFF53-5E59-496E-943C-E026171E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E0E3C-0804-4BB6-8A9F-7856161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95475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高价值客的维护活动与沉睡唤醒人群的召回活动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C7BD2-1515-4D0A-812B-DBD4B082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E7481-315F-4977-A9A3-B6818EDB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0395B-0487-4640-844C-79DABAB2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高价值客与沉睡唤醒群体的投入产出差异较大，但标签和成本口径可能影响比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EA48A-6683-47A7-BDFD-4A0DEF5B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101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54D7B-4F96-4B96-9F78-2B544213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执行步骤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16026-A72C-48B3-96B6-EAE0A593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72025"/>
            <a:ext cx="89535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补齐稳定客户标识和期初分层，在同一层内保留对照，分别验证维护、转介绍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和唤醒活动。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A08E8-EBE0-44A5-A460-A9FCDCF5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行动03 · 对应结论03 · 执行安排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CC19A-58C5-4B1B-952F-33F3C2F9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行动安排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80DBF-B161-4FDC-8507-F549EF88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18 / 23</a:t>
            </a:r>
          </a:p>
        </p:txBody>
      </p:sp>
    </p:spTree>
    <p:extLst>
      <p:ext uri="{BB962C8B-B14F-4D97-AF65-F5344CB8AC3E}">
        <p14:creationId xmlns:p14="http://schemas.microsoft.com/office/powerpoint/2010/main" val="7888284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FC5CA-C17D-44E2-B076-D225E4D2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B4A66-9108-40A8-B1A9-90069390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对客户维护和唤醒分别验证增量：验证与边界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B95BC-9EE4-4DE9-8313-7EBF623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验证信号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D6F02-339C-4903-ABA1-9960F7E0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857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同层同窗口的增量贡献改善，退订或投诉未增加。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CF28-FF11-459F-862B-2C06BE30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B5E30-643F-4E89-9C5F-7BA3BF8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BF5FC-6B10-46AC-B682-4E21949B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14825"/>
            <a:ext cx="857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未获得增量证据前不承诺生命周期价值，不将不同层级平均差异当作活动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收益。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7BDF5-37B0-443C-9EF8-8CDF9D1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行动03 · 对应结论03 · 验证与边界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C65C6-C450-4DCC-965D-114E533C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行动安排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77D32-BE0E-4F06-BBEA-838FBF72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19 / 23</a:t>
            </a:r>
          </a:p>
        </p:txBody>
      </p:sp>
    </p:spTree>
    <p:extLst>
      <p:ext uri="{BB962C8B-B14F-4D97-AF65-F5344CB8AC3E}">
        <p14:creationId xmlns:p14="http://schemas.microsoft.com/office/powerpoint/2010/main" val="30916502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B1314-A449-4293-8136-FD03B5A8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A9F3D-432F-4667-A329-F5E93ECC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数据范围与期间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1584F-3ED5-4381-9919-51AC43EF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期间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A65CE-3D93-484A-8AAC-A7551665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89725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2024-01 至 2025-06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0EEF2-DF69-4EFB-AB0C-CBFE89AF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完整性处理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5E400-8FF1-4478-A392-9FE92079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48100"/>
            <a:ext cx="89725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排除未完成周期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30562-491F-4C89-9335-87C0699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附录 · 数据范围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53E65-BB06-4B0D-B5C0-686F1178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19DC0-3D95-4B9A-98BC-EC379949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20 / 23</a:t>
            </a:r>
          </a:p>
        </p:txBody>
      </p:sp>
    </p:spTree>
    <p:extLst>
      <p:ext uri="{BB962C8B-B14F-4D97-AF65-F5344CB8AC3E}">
        <p14:creationId xmlns:p14="http://schemas.microsoft.com/office/powerpoint/2010/main" val="186104643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4BD48-FB97-4E6C-97E9-CAFBBE6A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0CC73-27E8-498E-BB38-4241BCD6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指标定义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87889-3728-4741-ADB4-69A1645A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收入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012FA-6A11-4643-A6C3-4E0AD0AC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收入：sum；单位 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625B2-FB17-40A0-9756-CA917BC2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8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订单数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A9F34-14A5-49B3-9BF5-DB1D7946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9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订单数：sum；单位 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459A3-3BB6-4139-8E0C-A5B5C8AF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5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转化率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30BD7-1632-4991-BA56-CA46CF3C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46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订单数 合计 ÷ 访问量 合计 × 100.0；单位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3D642-F4F0-4BE1-B6FF-97EF42BA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附录 · 指标定义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72FE5-CC79-433E-B62F-B32D5304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017CB-4680-4ADE-AA11-F3F102C5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21 / 23</a:t>
            </a:r>
          </a:p>
        </p:txBody>
      </p:sp>
    </p:spTree>
    <p:extLst>
      <p:ext uri="{BB962C8B-B14F-4D97-AF65-F5344CB8AC3E}">
        <p14:creationId xmlns:p14="http://schemas.microsoft.com/office/powerpoint/2010/main" val="107269235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E4D5E-8F4D-4F9B-B6F4-BE8C66A2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7A524-79E6-4A83-83BF-EEBF15A7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指标定义（续）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D9DC0-0508-4135-AB6E-6FBC2E58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退款率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DF793-EAEE-47FB-884D-E83ECF21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退款金额 合计 ÷ 收入 合计 × 100.0；单位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1B421-CFCE-4133-B4D0-253043B8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8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营销成本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FBBFE-9360-4E85-9B0A-5BCE874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9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营销成本：sum；单位 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3DE26-0DD3-4620-8DF3-C2D9F91F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5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投入产出比（</a:t>
            </a:r>
          </a:p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ROAS）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3B5D9-1176-4A34-B044-4559CB71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46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收入 合计 ÷ 营销成本 合计 × 1.0；单位 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6B00D-4190-4442-BA57-B54F6258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附录 · 指标定义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6F7A9-1FEF-4DD1-B14C-F581A73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1A537-BCE8-49B3-BCB8-A003F559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22 / 23</a:t>
            </a:r>
          </a:p>
        </p:txBody>
      </p:sp>
    </p:spTree>
    <p:extLst>
      <p:ext uri="{BB962C8B-B14F-4D97-AF65-F5344CB8AC3E}">
        <p14:creationId xmlns:p14="http://schemas.microsoft.com/office/powerpoint/2010/main" val="24201567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7998C-05BF-4DE1-ACE4-B753AE10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087B9-ED41-4985-BDFF-6AAAC980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分母处理与数据提醒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09370-3372-4E49-91E3-0F121823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转化率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75B2D-E651-4885-9A18-D3C5049E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单行分母为零仍进入分子与分母合计；仅排除缺失配对，合计分母为零时不计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4BE64-D340-4B40-9FB6-9C4952F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8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退款率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CE628-14A4-469E-80E9-97856807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9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单行分母为零仍进入分子与分母合计；仅排除缺失配对，合计分母为零时不计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3FF11-DA60-4803-BBD4-C30208D1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56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投入产出比（</a:t>
            </a:r>
          </a:p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ROAS）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581D7-A758-4D56-B98F-F28A60B6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46600"/>
            <a:ext cx="8972550" cy="126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单行分母为零仍进入分子与分母合计；仅排除缺失配对，合计分母为零时不计</a:t>
            </a:r>
          </a:p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6D8A4-F5DB-4F4B-A721-79F6F614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附录 · 分母与数据提醒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796CD-037B-4955-B094-03295ECA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D947E-12C6-4BA9-A521-45DB9048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5"/>
                </a:solidFill>
                <a:latin typeface="Microsoft YaHei"/>
                <a:ea typeface="Microsoft YaHei"/>
                <a:cs typeface="Microsoft YaHei"/>
              </a:rPr>
              <a:t>23 / 23</a:t>
            </a:r>
          </a:p>
        </p:txBody>
      </p:sp>
    </p:spTree>
    <p:extLst>
      <p:ext uri="{BB962C8B-B14F-4D97-AF65-F5344CB8AC3E}">
        <p14:creationId xmlns:p14="http://schemas.microsoft.com/office/powerpoint/2010/main" val="317025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2026-09-08T14:17:56.3820000Z</dcterms:created>
  <dcterms:modified xsi:type="dcterms:W3CDTF">2026-09-08T14:17:56.3820000Z</dcterms:modified>
</coreProperties>
</file>