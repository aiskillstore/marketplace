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</ns0:sldIdLst>
  <ns0:sldSz cx="18288000" cy="10287000" type="screen4x3"/>
  <ns0:notesSz cx="6858000" cy="9144000"/>
  <ns0:defaultTextStyle>
    <ns2:defPPr>
      <ns2:defRPr lang="en-US">
        <ns2:latin typeface="Microsoft YaHei"/>
        <ns2:ea typeface="Microsoft YaHei"/>
        <ns2:cs typeface="Microsoft YaHei"/>
      </ns2:defRPr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Microsoft YaHei"/>
        <ns2:ea typeface="Microsoft YaHei"/>
        <ns2:cs typeface="Microsoft YaHei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powerpoint/2010/main" type="title" preserve="1">
  <ns0:cSld name="Title Slid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ctrTitle"/>
          </ns0:nvPr>
        </ns0:nvSpPr>
        <ns0:spPr>
          <ns1:xfrm>
            <ns1:off x="685800" y="2130425"/>
            <ns1:ext cx="7772400" cy="1470025"/>
          </ns1:xfrm>
        </ns0:spPr>
        <ns0:txBody>
          <ns1:bodyPr/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Subtitle 2"/>
          <ns0:cNvSpPr>
            <ns1:spLocks noGrp="1"/>
          </ns0:cNvSpPr>
          <ns0:nvPr>
            <ns0:ph type="subTitle" idx="1"/>
          </ns0:nvPr>
        </ns0:nvSpPr>
        <ns0:spPr>
          <ns1:xfrm>
            <ns1:off x="1371600" y="3886200"/>
            <ns1:ext cx="6400800" cy="1752600"/>
          </ns1:xfrm>
        </ns0:spPr>
        <ns0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subtitle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3168075583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Title and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Section Header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Two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half" idx="1"/>
          </ns0:nvPr>
        </ns0:nvSpPr>
        <ns0:spPr>
          <ns1:xfrm>
            <ns1:off x="457200" y="1600200"/>
            <ns1:ext cx="4038600" cy="4525963"/>
          </ns1:xfrm>
        </ns0:spPr>
        <ns0:txBody>
          <ns1:bodyPr/>
          <ns1:lstStyle>
            <ns1:lvl1pPr>
              <ns1:defRPr sz="2800"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>
                <ns1:latin typeface="Microsoft YaHei"/>
                <ns1:ea typeface="Microsoft YaHei"/>
                <ns1:cs typeface="Microsoft YaHei"/>
              </ns1:defRPr>
            </ns1:lvl2pPr>
            <ns1:lvl3pPr>
              <ns1:defRPr sz="2000"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648200" y="1600200"/>
            <ns1:ext cx="4038600" cy="4525963"/>
          </ns1:xfrm>
        </ns0:spPr>
        <ns0:txBody>
          <ns1:bodyPr/>
          <ns1:lstStyle>
            <ns1:lvl1pPr>
              <ns1:defRPr sz="2800"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>
                <ns1:latin typeface="Microsoft YaHei"/>
                <ns1:ea typeface="Microsoft YaHei"/>
                <ns1:cs typeface="Microsoft YaHei"/>
              </ns1:defRPr>
            </ns1:lvl2pPr>
            <ns1:lvl3pPr>
              <ns1:defRPr sz="2000"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2782244947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Comparis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535113"/>
            <ns1:ext cx="4040188" cy="639762"/>
          </ns1:xfrm>
        </ns0:spPr>
        <ns0:txBody>
          <ns1:bodyPr anchor="b"/>
          <ns1:lstStyle>
            <ns1:lvl1pPr marL="0" indent="0">
              <ns1:buNone/>
              <ns1:defRPr sz="2400" b="1">
                <ns1:latin typeface="Microsoft YaHei"/>
                <ns1:ea typeface="Microsoft YaHei"/>
                <ns1:cs typeface="Microsoft YaHei"/>
              </ns1:defRPr>
            </ns1:lvl1pPr>
            <ns1:lvl2pPr marL="457200" indent="0">
              <ns1:buNone/>
              <ns1:defRPr sz="2000" b="1">
                <ns1:latin typeface="Microsoft YaHei"/>
                <ns1:ea typeface="Microsoft YaHei"/>
                <ns1:cs typeface="Microsoft YaHei"/>
              </ns1:defRPr>
            </ns1:lvl2pPr>
            <ns1:lvl3pPr marL="914400" indent="0">
              <ns1:buNone/>
              <ns1:defRPr sz="1800" b="1">
                <ns1:latin typeface="Microsoft YaHei"/>
                <ns1:ea typeface="Microsoft YaHei"/>
                <ns1:cs typeface="Microsoft YaHei"/>
              </ns1:defRPr>
            </ns1:lvl3pPr>
            <ns1:lvl4pPr marL="13716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4pPr>
            <ns1:lvl5pPr marL="18288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5pPr>
            <ns1:lvl6pPr marL="22860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6pPr>
            <ns1:lvl7pPr marL="27432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7pPr>
            <ns1:lvl8pPr marL="32004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8pPr>
            <ns1:lvl9pPr marL="36576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57200" y="2174875"/>
            <ns1:ext cx="4040188" cy="3951288"/>
          </ns1:xfrm>
        </ns0:spPr>
        <ns0:txBody>
          <ns1:bodyPr/>
          <ns1:lstStyle>
            <ns1:lvl1pPr>
              <ns1:defRPr sz="2400">
                <ns1:latin typeface="Microsoft YaHei"/>
                <ns1:ea typeface="Microsoft YaHei"/>
                <ns1:cs typeface="Microsoft YaHei"/>
              </ns1:defRPr>
            </ns1:lvl1pPr>
            <ns1:lvl2pPr>
              <ns1:defRPr sz="2000"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>
                <ns1:latin typeface="Microsoft YaHei"/>
                <ns1:ea typeface="Microsoft YaHei"/>
                <ns1:cs typeface="Microsoft YaHei"/>
              </ns1:defRPr>
            </ns1:lvl3pPr>
            <ns1:lvl4pPr>
              <ns1:defRPr sz="1600">
                <ns1:latin typeface="Microsoft YaHei"/>
                <ns1:ea typeface="Microsoft YaHei"/>
                <ns1:cs typeface="Microsoft YaHei"/>
              </ns1:defRPr>
            </ns1:lvl4pPr>
            <ns1:lvl5pPr>
              <ns1:defRPr sz="1600">
                <ns1:latin typeface="Microsoft YaHei"/>
                <ns1:ea typeface="Microsoft YaHei"/>
                <ns1:cs typeface="Microsoft YaHei"/>
              </ns1:defRPr>
            </ns1:lvl5pPr>
            <ns1:lvl6pPr>
              <ns1:defRPr sz="1600">
                <ns1:latin typeface="Microsoft YaHei"/>
                <ns1:ea typeface="Microsoft YaHei"/>
                <ns1:cs typeface="Microsoft YaHei"/>
              </ns1:defRPr>
            </ns1:lvl6pPr>
            <ns1:lvl7pPr>
              <ns1:defRPr sz="1600">
                <ns1:latin typeface="Microsoft YaHei"/>
                <ns1:ea typeface="Microsoft YaHei"/>
                <ns1:cs typeface="Microsoft YaHei"/>
              </ns1:defRPr>
            </ns1:lvl7pPr>
            <ns1:lvl8pPr>
              <ns1:defRPr sz="1600">
                <ns1:latin typeface="Microsoft YaHei"/>
                <ns1:ea typeface="Microsoft YaHei"/>
                <ns1:cs typeface="Microsoft YaHei"/>
              </ns1:defRPr>
            </ns1:lvl8pPr>
            <ns1:lvl9pPr>
              <ns1:defRPr sz="16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Text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4645025" y="1535113"/>
            <ns1:ext cx="4041775" cy="639762"/>
          </ns1:xfrm>
        </ns0:spPr>
        <ns0:txBody>
          <ns1:bodyPr anchor="b"/>
          <ns1:lstStyle>
            <ns1:lvl1pPr marL="0" indent="0">
              <ns1:buNone/>
              <ns1:defRPr sz="2400" b="1">
                <ns1:latin typeface="Microsoft YaHei"/>
                <ns1:ea typeface="Microsoft YaHei"/>
                <ns1:cs typeface="Microsoft YaHei"/>
              </ns1:defRPr>
            </ns1:lvl1pPr>
            <ns1:lvl2pPr marL="457200" indent="0">
              <ns1:buNone/>
              <ns1:defRPr sz="2000" b="1">
                <ns1:latin typeface="Microsoft YaHei"/>
                <ns1:ea typeface="Microsoft YaHei"/>
                <ns1:cs typeface="Microsoft YaHei"/>
              </ns1:defRPr>
            </ns1:lvl2pPr>
            <ns1:lvl3pPr marL="914400" indent="0">
              <ns1:buNone/>
              <ns1:defRPr sz="1800" b="1">
                <ns1:latin typeface="Microsoft YaHei"/>
                <ns1:ea typeface="Microsoft YaHei"/>
                <ns1:cs typeface="Microsoft YaHei"/>
              </ns1:defRPr>
            </ns1:lvl3pPr>
            <ns1:lvl4pPr marL="13716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4pPr>
            <ns1:lvl5pPr marL="18288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5pPr>
            <ns1:lvl6pPr marL="22860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6pPr>
            <ns1:lvl7pPr marL="27432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7pPr>
            <ns1:lvl8pPr marL="32004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8pPr>
            <ns1:lvl9pPr marL="3657600" indent="0">
              <ns1:buNone/>
              <ns1:defRPr sz="1600" b="1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</ns0:txBody>
      </ns0:sp>
      <ns0:sp>
        <ns0:nvSpPr>
          <ns0:cNvPr id="6" name="Content Placeholder 5"/>
          <ns0:cNvSpPr>
            <ns1:spLocks noGrp="1"/>
          </ns0:cNvSpPr>
          <ns0:nvPr>
            <ns0:ph sz="quarter" idx="4"/>
          </ns0:nvPr>
        </ns0:nvSpPr>
        <ns0:spPr>
          <ns1:xfrm>
            <ns1:off x="4645025" y="2174875"/>
            <ns1:ext cx="4041775" cy="3951288"/>
          </ns1:xfrm>
        </ns0:spPr>
        <ns0:txBody>
          <ns1:bodyPr/>
          <ns1:lstStyle>
            <ns1:lvl1pPr>
              <ns1:defRPr sz="2400">
                <ns1:latin typeface="Microsoft YaHei"/>
                <ns1:ea typeface="Microsoft YaHei"/>
                <ns1:cs typeface="Microsoft YaHei"/>
              </ns1:defRPr>
            </ns1:lvl1pPr>
            <ns1:lvl2pPr>
              <ns1:defRPr sz="2000"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>
                <ns1:latin typeface="Microsoft YaHei"/>
                <ns1:ea typeface="Microsoft YaHei"/>
                <ns1:cs typeface="Microsoft YaHei"/>
              </ns1:defRPr>
            </ns1:lvl3pPr>
            <ns1:lvl4pPr>
              <ns1:defRPr sz="1600">
                <ns1:latin typeface="Microsoft YaHei"/>
                <ns1:ea typeface="Microsoft YaHei"/>
                <ns1:cs typeface="Microsoft YaHei"/>
              </ns1:defRPr>
            </ns1:lvl4pPr>
            <ns1:lvl5pPr>
              <ns1:defRPr sz="1600">
                <ns1:latin typeface="Microsoft YaHei"/>
                <ns1:ea typeface="Microsoft YaHei"/>
                <ns1:cs typeface="Microsoft YaHei"/>
              </ns1:defRPr>
            </ns1:lvl5pPr>
            <ns1:lvl6pPr>
              <ns1:defRPr sz="1600">
                <ns1:latin typeface="Microsoft YaHei"/>
                <ns1:ea typeface="Microsoft YaHei"/>
                <ns1:cs typeface="Microsoft YaHei"/>
              </ns1:defRPr>
            </ns1:lvl6pPr>
            <ns1:lvl7pPr>
              <ns1:defRPr sz="1600">
                <ns1:latin typeface="Microsoft YaHei"/>
                <ns1:ea typeface="Microsoft YaHei"/>
                <ns1:cs typeface="Microsoft YaHei"/>
              </ns1:defRPr>
            </ns1:lvl7pPr>
            <ns1:lvl8pPr>
              <ns1:defRPr sz="1600">
                <ns1:latin typeface="Microsoft YaHei"/>
                <ns1:ea typeface="Microsoft YaHei"/>
                <ns1:cs typeface="Microsoft YaHei"/>
              </ns1:defRPr>
            </ns1:lvl8pPr>
            <ns1:lvl9pPr>
              <ns1:defRPr sz="16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7" name="Date Placeholder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8" name="Footer Placeholder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9" name="Slide Number Placeholder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990158736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Title Onl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Footer Placeholder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Slide Number Placeholder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727027711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Date Placeholder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Footer Placeholder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1212999818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Content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57200" y="273050"/>
            <ns1:ext cx="3008313" cy="1162050"/>
          </ns1:xfrm>
        </ns0:spPr>
        <ns0:txBody>
          <ns1:bodyPr anchor="b"/>
          <ns1:lstStyle>
            <ns1:lvl1pPr algn="l">
              <ns1:defRPr sz="2000" b="1"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3575050" y="273050"/>
            <ns1:ext cx="5111750" cy="5853113"/>
          </ns1:xfrm>
        </ns0:spPr>
        <ns0:txBody>
          <ns1:bodyPr/>
          <ns1:lstStyle>
            <ns1:lvl1pPr>
              <ns1:defRPr sz="3200">
                <ns1:latin typeface="Microsoft YaHei"/>
                <ns1:ea typeface="Microsoft YaHei"/>
                <ns1:cs typeface="Microsoft YaHei"/>
              </ns1:defRPr>
            </ns1:lvl1pPr>
            <ns1:lvl2pPr>
              <ns1:defRPr sz="2800"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>
                <ns1:latin typeface="Microsoft YaHei"/>
                <ns1:ea typeface="Microsoft YaHei"/>
                <ns1:cs typeface="Microsoft YaHei"/>
              </ns1:defRPr>
            </ns1:lvl3pPr>
            <ns1:lvl4pPr>
              <ns1:defRPr sz="2000">
                <ns1:latin typeface="Microsoft YaHei"/>
                <ns1:ea typeface="Microsoft YaHei"/>
                <ns1:cs typeface="Microsoft YaHei"/>
              </ns1:defRPr>
            </ns1:lvl4pPr>
            <ns1:lvl5pPr>
              <ns1:defRPr sz="2000">
                <ns1:latin typeface="Microsoft YaHei"/>
                <ns1:ea typeface="Microsoft YaHei"/>
                <ns1:cs typeface="Microsoft YaHei"/>
              </ns1:defRPr>
            </ns1:lvl5pPr>
            <ns1:lvl6pPr>
              <ns1:defRPr sz="2000">
                <ns1:latin typeface="Microsoft YaHei"/>
                <ns1:ea typeface="Microsoft YaHei"/>
                <ns1:cs typeface="Microsoft YaHei"/>
              </ns1:defRPr>
            </ns1:lvl6pPr>
            <ns1:lvl7pPr>
              <ns1:defRPr sz="2000">
                <ns1:latin typeface="Microsoft YaHei"/>
                <ns1:ea typeface="Microsoft YaHei"/>
                <ns1:cs typeface="Microsoft YaHei"/>
              </ns1:defRPr>
            </ns1:lvl7pPr>
            <ns1:lvl8pPr>
              <ns1:defRPr sz="2000">
                <ns1:latin typeface="Microsoft YaHei"/>
                <ns1:ea typeface="Microsoft YaHei"/>
                <ns1:cs typeface="Microsoft YaHei"/>
              </ns1:defRPr>
            </ns1:lvl8pPr>
            <ns1:lvl9pPr>
              <ns1:defRPr sz="20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435100"/>
            <ns1:ext cx="3008313" cy="4691063"/>
          </ns1:xfrm>
        </ns0:spPr>
        <ns0:txBody>
          <ns1:bodyPr/>
          <ns1:lstStyle>
            <ns1:lvl1pPr marL="0" indent="0">
              <ns1:buNone/>
              <ns1:defRPr sz="1400">
                <ns1:latin typeface="Microsoft YaHei"/>
                <ns1:ea typeface="Microsoft YaHei"/>
                <ns1:cs typeface="Microsoft YaHei"/>
              </ns1:defRPr>
            </ns1:lvl1pPr>
            <ns1:lvl2pPr marL="457200" indent="0">
              <ns1:buNone/>
              <ns1:defRPr sz="1200">
                <ns1:latin typeface="Microsoft YaHei"/>
                <ns1:ea typeface="Microsoft YaHei"/>
                <ns1:cs typeface="Microsoft YaHei"/>
              </ns1:defRPr>
            </ns1:lvl2pPr>
            <ns1:lvl3pPr marL="914400" indent="0">
              <ns1:buNone/>
              <ns1:defRPr sz="1000">
                <ns1:latin typeface="Microsoft YaHei"/>
                <ns1:ea typeface="Microsoft YaHei"/>
                <ns1:cs typeface="Microsoft YaHei"/>
              </ns1:defRPr>
            </ns1:lvl3pPr>
            <ns1:lvl4pPr marL="13716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4pPr>
            <ns1:lvl5pPr marL="18288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5pPr>
            <ns1:lvl6pPr marL="22860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6pPr>
            <ns1:lvl7pPr marL="27432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7pPr>
            <ns1:lvl8pPr marL="32004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8pPr>
            <ns1:lvl9pPr marL="36576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1840726560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Picture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792288" y="4800600"/>
            <ns1:ext cx="5486400" cy="566738"/>
          </ns1:xfrm>
        </ns0:spPr>
        <ns0:txBody>
          <ns1:bodyPr anchor="b"/>
          <ns1:lstStyle>
            <ns1:lvl1pPr algn="l">
              <ns1:defRPr sz="2000" b="1"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Picture Placeholder 2"/>
          <ns0:cNvSpPr>
            <ns1:spLocks noGrp="1"/>
          </ns0:cNvSpPr>
          <ns0:nvPr>
            <ns0:ph type="pic" idx="1"/>
          </ns0:nvPr>
        </ns0:nvSpPr>
        <ns0:spPr>
          <ns1:xfrm>
            <ns1:off x="1792288" y="612775"/>
            <ns1:ext cx="5486400" cy="4114800"/>
          </ns1:xfrm>
        </ns0:spPr>
        <ns0:txBody>
          <ns1:bodyPr/>
          <ns1:lstStyle>
            <ns1:lvl1pPr marL="0" indent="0">
              <ns1:buNone/>
              <ns1:defRPr sz="3200">
                <ns1:latin typeface="Microsoft YaHei"/>
                <ns1:ea typeface="Microsoft YaHei"/>
                <ns1:cs typeface="Microsoft YaHei"/>
              </ns1:defRPr>
            </ns1:lvl1pPr>
            <ns1:lvl2pPr marL="457200" indent="0">
              <ns1:buNone/>
              <ns1:defRPr sz="2800">
                <ns1:latin typeface="Microsoft YaHei"/>
                <ns1:ea typeface="Microsoft YaHei"/>
                <ns1:cs typeface="Microsoft YaHei"/>
              </ns1:defRPr>
            </ns1:lvl2pPr>
            <ns1:lvl3pPr marL="914400" indent="0">
              <ns1:buNone/>
              <ns1:defRPr sz="2400">
                <ns1:latin typeface="Microsoft YaHei"/>
                <ns1:ea typeface="Microsoft YaHei"/>
                <ns1:cs typeface="Microsoft YaHei"/>
              </ns1:defRPr>
            </ns1:lvl3pPr>
            <ns1:lvl4pPr marL="1371600" indent="0">
              <ns1:buNone/>
              <ns1:defRPr sz="2000">
                <ns1:latin typeface="Microsoft YaHei"/>
                <ns1:ea typeface="Microsoft YaHei"/>
                <ns1:cs typeface="Microsoft YaHei"/>
              </ns1:defRPr>
            </ns1:lvl4pPr>
            <ns1:lvl5pPr marL="1828800" indent="0">
              <ns1:buNone/>
              <ns1:defRPr sz="2000">
                <ns1:latin typeface="Microsoft YaHei"/>
                <ns1:ea typeface="Microsoft YaHei"/>
                <ns1:cs typeface="Microsoft YaHei"/>
              </ns1:defRPr>
            </ns1:lvl5pPr>
            <ns1:lvl6pPr marL="2286000" indent="0">
              <ns1:buNone/>
              <ns1:defRPr sz="2000">
                <ns1:latin typeface="Microsoft YaHei"/>
                <ns1:ea typeface="Microsoft YaHei"/>
                <ns1:cs typeface="Microsoft YaHei"/>
              </ns1:defRPr>
            </ns1:lvl6pPr>
            <ns1:lvl7pPr marL="2743200" indent="0">
              <ns1:buNone/>
              <ns1:defRPr sz="2000">
                <ns1:latin typeface="Microsoft YaHei"/>
                <ns1:ea typeface="Microsoft YaHei"/>
                <ns1:cs typeface="Microsoft YaHei"/>
              </ns1:defRPr>
            </ns1:lvl7pPr>
            <ns1:lvl8pPr marL="3200400" indent="0">
              <ns1:buNone/>
              <ns1:defRPr sz="2000">
                <ns1:latin typeface="Microsoft YaHei"/>
                <ns1:ea typeface="Microsoft YaHei"/>
                <ns1:cs typeface="Microsoft YaHei"/>
              </ns1:defRPr>
            </ns1:lvl8pPr>
            <ns1:lvl9pPr marL="3657600" indent="0">
              <ns1:buNone/>
              <ns1:defRPr sz="20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1792288" y="5367338"/>
            <ns1:ext cx="5486400" cy="804862"/>
          </ns1:xfrm>
        </ns0:spPr>
        <ns0:txBody>
          <ns1:bodyPr/>
          <ns1:lstStyle>
            <ns1:lvl1pPr marL="0" indent="0">
              <ns1:buNone/>
              <ns1:defRPr sz="1400">
                <ns1:latin typeface="Microsoft YaHei"/>
                <ns1:ea typeface="Microsoft YaHei"/>
                <ns1:cs typeface="Microsoft YaHei"/>
              </ns1:defRPr>
            </ns1:lvl1pPr>
            <ns1:lvl2pPr marL="457200" indent="0">
              <ns1:buNone/>
              <ns1:defRPr sz="1200">
                <ns1:latin typeface="Microsoft YaHei"/>
                <ns1:ea typeface="Microsoft YaHei"/>
                <ns1:cs typeface="Microsoft YaHei"/>
              </ns1:defRPr>
            </ns1:lvl2pPr>
            <ns1:lvl3pPr marL="914400" indent="0">
              <ns1:buNone/>
              <ns1:defRPr sz="1000">
                <ns1:latin typeface="Microsoft YaHei"/>
                <ns1:ea typeface="Microsoft YaHei"/>
                <ns1:cs typeface="Microsoft YaHei"/>
              </ns1:defRPr>
            </ns1:lvl3pPr>
            <ns1:lvl4pPr marL="13716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4pPr>
            <ns1:lvl5pPr marL="18288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5pPr>
            <ns1:lvl6pPr marL="22860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6pPr>
            <ns1:lvl7pPr marL="27432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7pPr>
            <ns1:lvl8pPr marL="32004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8pPr>
            <ns1:lvl9pPr marL="3657600" indent="0">
              <ns1:buNone/>
              <ns1:defRPr sz="900"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3889236939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Title and Vertical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2910927964"/>
      </ns0:ext>
    </ns0:extLst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Vertical Title and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Vertical Title 1"/>
          <ns0:cNvSpPr>
            <ns1:spLocks noGrp="1"/>
          </ns0:cNvSpPr>
          <ns0:nvPr>
            <ns0:ph type="title" orient="vert"/>
          </ns0:nvPr>
        </ns0:nvSpPr>
        <ns0:spPr>
          <ns1:xfrm>
            <ns1:off x="6629400" y="274638"/>
            <ns1:ext cx="2057400" cy="5851525"/>
          </ns1:xfrm>
        </ns0:spPr>
        <ns0:txBody>
          <ns1:bodyPr vert="eaVert"/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>
          <ns1:xfrm>
            <ns1:off x="457200" y="274638"/>
            <ns1:ext cx="6019800" cy="5851525"/>
          </ns1:xfrm>
        </ns0:spPr>
        <ns0:txBody>
          <ns1:bodyPr vert="eaVert"/>
          <ns1:lstStyle/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3612223792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title style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Second level</ns1:t>
            </ns1:r>
          </ns1:p>
          <ns1:p>
            <ns1:pPr lvl="2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Third level</ns1:t>
            </ns1:r>
          </ns1:p>
          <ns1:p>
            <ns1:pPr lvl="3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Fourth level</ns1:t>
            </ns1:r>
          </ns1:p>
          <ns1:p>
            <ns1:pPr lvl="4"/>
            <ns1:r>
              <ns1:rPr lang="en-US" smtClean="0">
                <ns1:latin typeface="Microsoft YaHei"/>
                <ns1:ea typeface="Microsoft YaHei"/>
                <ns1:cs typeface="Microsoft YaHei"/>
              </ns1:rPr>
              <ns1:t>Fifth level</ns1:t>
            </ns1:r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fld id="{5BCAD085-E8A6-8845-BD4E-CB4CCA059FC4}" type="datetimeFigureOut">
              <ns1:rPr lang="en-US" smtClean="0">
                <ns1:latin typeface="Microsoft YaHei"/>
                <ns1:ea typeface="Microsoft YaHei"/>
                <ns1:cs typeface="Microsoft YaHei"/>
              </ns1:rPr>
              <ns1:t>1/27/13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124200" y="6356350"/>
            <ns1:ext cx="2895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6553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  <ns1:latin typeface="Microsoft YaHei"/>
                <ns1:ea typeface="Microsoft YaHei"/>
                <ns1:cs typeface="Microsoft YaHei"/>
              </ns1:defRPr>
            </ns1:lvl1pPr>
          </ns1:lstStyle>
          <ns1:p>
            <ns1:fld id="{C1FF6DA9-008F-8B48-92A6-B652298478BF}" type="slidenum">
              <ns1:rPr lang="en-US" smtClean="0">
                <ns1:latin typeface="Microsoft YaHei"/>
                <ns1:ea typeface="Microsoft YaHei"/>
                <ns1:cs typeface="Microsoft YaHei"/>
              </ns1:rPr>
              <ns1:t>‹#›</ns1:t>
            </ns1:fld>
            <ns1:endParaRPr lang="en-US">
              <ns1:latin typeface="Microsoft YaHei"/>
              <ns1:ea typeface="Microsoft YaHei"/>
              <ns1:cs typeface="Microsoft YaHei"/>
            </ns1:endParaRPr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</ns0:sldLayoutIdLst>
  <ns0:txStyles>
    <ns0:titleStyle>
      <ns1:lvl1pPr algn="ctr" defTabSz="4572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1pPr>
    </ns0:titleStyle>
    <ns0:bodyStyle>
      <ns1:lvl1pPr marL="342900" indent="-342900" algn="l" defTabSz="457200" rtl="0" eaLnBrk="1" latinLnBrk="0" hangingPunct="1">
        <ns1:spcBef>
          <ns1:spcPct val="20000"/>
        </ns1:spcBef>
        <ns1:buFont typeface="Arial"/>
        <ns1:buChar char="•"/>
        <ns1:defRPr sz="32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1pPr>
      <ns1:lvl2pPr marL="742950" indent="-285750" algn="l" defTabSz="457200" rtl="0" eaLnBrk="1" latinLnBrk="0" hangingPunct="1">
        <ns1:spcBef>
          <ns1:spcPct val="20000"/>
        </ns1:spcBef>
        <ns1:buFont typeface="Arial"/>
        <ns1:buChar char="–"/>
        <ns1:defRPr sz="2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2pPr>
      <ns1:lvl3pPr marL="1143000" indent="-228600" algn="l" defTabSz="457200" rtl="0" eaLnBrk="1" latinLnBrk="0" hangingPunct="1">
        <ns1:spcBef>
          <ns1:spcPct val="20000"/>
        </ns1:spcBef>
        <ns1:buFont typeface="Arial"/>
        <ns1:buChar char="•"/>
        <ns1:defRPr sz="24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3pPr>
      <ns1:lvl4pPr marL="1600200" indent="-228600" algn="l" defTabSz="457200" rtl="0" eaLnBrk="1" latinLnBrk="0" hangingPunct="1">
        <ns1:spcBef>
          <ns1:spcPct val="20000"/>
        </ns1:spcBef>
        <ns1:buFont typeface="Arial"/>
        <ns1:buChar char="–"/>
        <ns1:defRPr sz="20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4pPr>
      <ns1:lvl5pPr marL="2057400" indent="-228600" algn="l" defTabSz="457200" rtl="0" eaLnBrk="1" latinLnBrk="0" hangingPunct="1">
        <ns1:spcBef>
          <ns1:spcPct val="20000"/>
        </ns1:spcBef>
        <ns1:buFont typeface="Arial"/>
        <ns1:buChar char="»"/>
        <ns1:defRPr sz="20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5pPr>
      <ns1:lvl6pPr marL="25146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6pPr>
      <ns1:lvl7pPr marL="29718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7pPr>
      <ns1:lvl8pPr marL="34290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8pPr>
      <ns1:lvl9pPr marL="38862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9pPr>
    </ns0:bodyStyle>
    <ns0:otherStyle>
      <ns1:defPPr>
        <ns1:defRPr lang="en-US">
          <ns1:latin typeface="Microsoft YaHei"/>
          <ns1:ea typeface="Microsoft YaHei"/>
          <ns1:cs typeface="Microsoft YaHei"/>
        </ns1:defRPr>
      </ns1:defPPr>
      <ns1:lvl1pPr marL="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1pPr>
      <ns1:lvl2pPr marL="4572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2pPr>
      <ns1:lvl3pPr marL="9144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3pPr>
      <ns1:lvl4pPr marL="13716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4pPr>
      <ns1:lvl5pPr marL="18288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5pPr>
      <ns1:lvl6pPr marL="22860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6pPr>
      <ns1:lvl7pPr marL="27432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7pPr>
      <ns1:lvl8pPr marL="32004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8pPr>
      <ns1:lvl9pPr marL="3657600" algn="l" defTabSz="457200" rtl="0" eaLnBrk="1" latinLnBrk="0" hangingPunct="1">
        <ns1:defRPr sz="1800" kern="1200">
          <ns1:solidFill>
            <ns1:schemeClr val="tx1"/>
          </ns1:solidFill>
          <ns1:latin typeface="Microsoft YaHei"/>
          <ns1:ea typeface="Microsoft YaHei"/>
          <ns1:cs typeface="Microsoft YaHei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1057275" y="6757987"/>
            <ns1:ext cx="161734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028700" y="3143250"/>
            <ns1:ext cx="15716250" cy="2714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832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全渠道零售经营复盘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085850" y="5929312"/>
            <ns1:ext cx="15430500" cy="6000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1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（合成数据）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1057275" y="928687"/>
            <ns1:ext cx="37147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分析期间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057275" y="1471612"/>
            <ns1:ext cx="15430500" cy="5715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1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2024-01 至 2025-06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057275" y="7229475"/>
            <ns1:ext cx="3143250" cy="4857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汇报目标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4286250" y="7158037"/>
            <ns1:ext cx="12858750" cy="178593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1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复盘全渠道经营表现，定位增长机会、效率风险与下一周期行动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2757487"/>
            <ns1:ext cx="5219700" cy="6215062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2757487"/>
            <ns1:ext cx="5219700" cy="71437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1257300" y="6029325"/>
            <ns1:ext cx="45339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6534150" y="2757487"/>
            <ns1:ext cx="5219700" cy="6215062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6534150" y="2757487"/>
            <ns1:ext cx="5219700" cy="714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6877050" y="6029325"/>
            <ns1:ext cx="45339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12153900" y="2757487"/>
            <ns1:ext cx="5219700" cy="6215062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ectangle 10"/>
          <ns0:cNvSpPr/>
          <ns0:nvPr/>
        </ns0:nvSpPr>
        <ns0:spPr>
          <ns1:xfrm>
            <ns1:off x="12153900" y="2757487"/>
            <ns1:ext cx="5219700" cy="71437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12496800" y="6029325"/>
            <ns1:ext cx="45339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核心判断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1257300" y="3086100"/>
            <ns1:ext cx="453390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540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01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257300" y="4357687"/>
            <ns1:ext cx="4533900" cy="15001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收入增长但投入</ns1:t>
            </ns1:r>
          </ns1:p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产出回落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1257300" y="6400800"/>
            <ns1:ext cx="4533900" cy="25717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收入增长伴随投入产出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回落，先核验付费广告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效率，谨慎验证内容种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草增量。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6877050" y="3086100"/>
            <ns1:ext cx="453390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5400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6877050" y="4357687"/>
            <ns1:ext cx="4533900" cy="15001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服饰扩量需同步处理</ns1:t>
            </ns1:r>
          </ns1:p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退款压力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6877050" y="6400800"/>
            <ns1:ext cx="4533900" cy="25717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服饰退款压力突出，扩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量与售后改进需要同时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安排。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2496800" y="3086100"/>
            <ns1:ext cx="453390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5400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12496800" y="4357687"/>
            <ns1:ext cx="4533900" cy="15001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分层优势不等于可</ns1:t>
            </ns1:r>
          </ns1:p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复制增量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12496800" y="6400800"/>
            <ns1:ext cx="4533900" cy="25717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客户分层可提供验证方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向，平均差异不能当作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可复制的增量回报。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开场 · 核心判断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开场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02 / 23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3128962"/>
            <ns1:ext cx="7258050" cy="5800725"/>
          </ns1:xfrm>
          <ns1:prstGeom prst="rect">
            <ns1:avLst/>
          </ns1:prstGeom>
          <ns1:solidFill>
            <ns1:srgbClr val="123B73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分析期总体概况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942975" y="2228850"/>
            <ns1:ext cx="16287750" cy="5143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2024-01 至 2025-06 · 全分析期整体口径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1371600" y="3843337"/>
            <ns1:ext cx="631507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375" b="1">
                <ns1:solidFill>
                  <ns1:srgbClr val="BFD3F6"/>
                </ns1:solidFill>
                <ns1:latin typeface="Microsoft YaHei"/>
                <ns1:ea typeface="Microsoft YaHei"/>
                <ns1:cs typeface="Microsoft YaHei"/>
              </ns1:rPr>
              <ns1:t>收入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371600" y="5386387"/>
            <ns1:ext cx="6343650" cy="1928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54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156,825,380.52元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58225" y="3300412"/>
            <ns1:ext cx="4257675" cy="8286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订单数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8658225" y="4229100"/>
            <ns1:ext cx="4257675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8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392,817单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13115925" y="3300412"/>
            <ns1:ext cx="4257675" cy="8286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转化率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13115925" y="4229100"/>
            <ns1:ext cx="4257675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825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4.81%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8658225" y="5314950"/>
            <ns1:ext cx="4257675" cy="8286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退款率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8658225" y="6243637"/>
            <ns1:ext cx="4257675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8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5.45%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3115925" y="5314950"/>
            <ns1:ext cx="4257675" cy="8286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营销成本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13115925" y="6243637"/>
            <ns1:ext cx="4257675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825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12,459,443.39元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8658225" y="7329487"/>
            <ns1:ext cx="4257675" cy="8286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投入产出比（ROAS）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8658225" y="8258175"/>
            <ns1:ext cx="4257675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8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12.59x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全局背景 · 经营基本盘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全局背景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03 / 23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收入扩大，营销投入产出却低于去年同期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42975" y="2514600"/>
            <ns1:ext cx="164020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证据与判断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942975" y="3128962"/>
            <ns1:ext cx="16402050" cy="2971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最新月收入9,852,473.73元，去年同月为8,321,659.42元；营销投入</ns1:t>
            </ns1:r>
          </ns1:p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产出从13x降至9.96x。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42975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业务含义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2975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收入增长需要同时看营销成本与退款。最新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月退款金额占收入6.82%，高于去年同期的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5.29%。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329737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适用边界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329737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投入产出以收入除以已记录营销成本，不含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毛利、履约及全部间接成本；也不代表广告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带来的增量回报。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结论01 · 规模与效率 · 证据与判断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04 / 23</ns1:t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2471737" y="6858000"/>
            <ns1:ext cx="1431607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2471737" y="5619750"/>
            <ns1:ext cx="1431607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2471737" y="4381500"/>
            <ns1:ext cx="1431607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2471737" y="3143250"/>
            <ns1:ext cx="1431607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Freeform 7"/>
          <ns0:cNvSpPr/>
          <ns0:nvPr/>
        </ns0:nvSpPr>
        <ns0:spPr>
          <ns1:xfrm>
            <ns1:off x="2471737" y="3723470"/>
            <ns1:ext cx="14316075" cy="1417964"/>
          </ns1:xfrm>
          <ns1:custGeom>
            <ns1:avLst/>
            <ns1:gdLst/>
            <ns1:ahLst/>
            <ns1:cxnLst/>
            <ns1:rect l="l" t="t" r="r" b="b"/>
            <ns1:pathLst>
              <ns1:path w="14316075" h="1417964">
                <ns1:moveTo>
                  <ns1:pt x="0" y="0"/>
                </ns1:moveTo>
                <ns1:moveTo>
                  <ns1:pt x="0" y="1343152"/>
                </ns1:moveTo>
                <ns1:lnTo>
                  <ns1:pt x="858410" y="1417964"/>
                </ns1:lnTo>
                <ns1:lnTo>
                  <ns1:pt x="1661440" y="1241040"/>
                </ns1:lnTo>
                <ns1:lnTo>
                  <ns1:pt x="2519850" y="1326913"/>
                </ns1:lnTo>
                <ns1:lnTo>
                  <ns1:pt x="3350570" y="1206104"/>
                </ns1:lnTo>
                <ns1:lnTo>
                  <ns1:pt x="4208981" y="1073670"/>
                </ns1:lnTo>
                <ns1:lnTo>
                  <ns1:pt x="5039701" y="1165840"/>
                </ns1:lnTo>
                <ns1:lnTo>
                  <ns1:pt x="5898112" y="1116959"/>
                </ns1:lnTo>
                <ns1:lnTo>
                  <ns1:pt x="6756522" y="982417"/>
                </ns1:lnTo>
                <ns1:lnTo>
                  <ns1:pt x="7587242" y="1058757"/>
                </ns1:lnTo>
                <ns1:lnTo>
                  <ns1:pt x="8445653" y="186122"/>
                </ns1:lnTo>
                <ns1:lnTo>
                  <ns1:pt x="9276373" y="0"/>
                </ns1:lnTo>
                <ns1:lnTo>
                  <ns1:pt x="10134784" y="921860"/>
                </ns1:lnTo>
                <ns1:lnTo>
                  <ns1:pt x="10993194" y="1124180"/>
                </ns1:lnTo>
                <ns1:lnTo>
                  <ns1:pt x="11768533" y="927977"/>
                </ns1:lnTo>
                <ns1:lnTo>
                  <ns1:pt x="12626944" y="964575"/>
                </ns1:lnTo>
                <ns1:lnTo>
                  <ns1:pt x="13457664" y="831625"/>
                </ns1:lnTo>
                <ns1:lnTo>
                  <ns1:pt x="14316075" y="694564"/>
                </ns1:lnTo>
              </ns1:path>
            </ns1:pathLst>
          </ns1:custGeom>
          <ns1:noFill/>
          <ns1:ln w="42862">
            <ns1:solidFill>
              <ns1:srgbClr val="2457D6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Oval 8"/>
          <ns0:cNvSpPr/>
          <ns0:nvPr/>
        </ns0:nvSpPr>
        <ns0:spPr>
          <ns1:xfrm>
            <ns1:off x="2414587" y="5009472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Oval 9"/>
          <ns0:cNvSpPr/>
          <ns0:nvPr/>
        </ns0:nvSpPr>
        <ns0:spPr>
          <ns1:xfrm>
            <ns1:off x="3272998" y="5084284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Oval 10"/>
          <ns0:cNvSpPr/>
          <ns0:nvPr/>
        </ns0:nvSpPr>
        <ns0:spPr>
          <ns1:xfrm>
            <ns1:off x="4076027" y="490736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Oval 11"/>
          <ns0:cNvSpPr/>
          <ns0:nvPr/>
        </ns0:nvSpPr>
        <ns0:spPr>
          <ns1:xfrm>
            <ns1:off x="4934438" y="4993233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Oval 12"/>
          <ns0:cNvSpPr/>
          <ns0:nvPr/>
        </ns0:nvSpPr>
        <ns0:spPr>
          <ns1:xfrm>
            <ns1:off x="5765158" y="487242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Oval 13"/>
          <ns0:cNvSpPr/>
          <ns0:nvPr/>
        </ns0:nvSpPr>
        <ns0:spPr>
          <ns1:xfrm>
            <ns1:off x="6623568" y="4739991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Oval 14"/>
          <ns0:cNvSpPr/>
          <ns0:nvPr/>
        </ns0:nvSpPr>
        <ns0:spPr>
          <ns1:xfrm>
            <ns1:off x="7454288" y="4832161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Oval 15"/>
          <ns0:cNvSpPr/>
          <ns0:nvPr/>
        </ns0:nvSpPr>
        <ns0:spPr>
          <ns1:xfrm>
            <ns1:off x="8312699" y="4783279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Oval 16"/>
          <ns0:cNvSpPr/>
          <ns0:nvPr/>
        </ns0:nvSpPr>
        <ns0:spPr>
          <ns1:xfrm>
            <ns1:off x="9171110" y="4648738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Oval 17"/>
          <ns0:cNvSpPr/>
          <ns0:nvPr/>
        </ns0:nvSpPr>
        <ns0:spPr>
          <ns1:xfrm>
            <ns1:off x="10001830" y="4725078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10860241" y="3852442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Oval 19"/>
          <ns0:cNvSpPr/>
          <ns0:nvPr/>
        </ns0:nvSpPr>
        <ns0:spPr>
          <ns1:xfrm>
            <ns1:off x="11690961" y="366632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12549371" y="458818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Oval 21"/>
          <ns0:cNvSpPr/>
          <ns0:nvPr/>
        </ns0:nvSpPr>
        <ns0:spPr>
          <ns1:xfrm>
            <ns1:off x="13407782" y="479050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Oval 22"/>
          <ns0:cNvSpPr/>
          <ns0:nvPr/>
        </ns0:nvSpPr>
        <ns0:spPr>
          <ns1:xfrm>
            <ns1:off x="14183121" y="4594298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4" name="Oval 23"/>
          <ns0:cNvSpPr/>
          <ns0:nvPr/>
        </ns0:nvSpPr>
        <ns0:spPr>
          <ns1:xfrm>
            <ns1:off x="15041531" y="463089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5" name="Oval 24"/>
          <ns0:cNvSpPr/>
          <ns0:nvPr/>
        </ns0:nvSpPr>
        <ns0:spPr>
          <ns1:xfrm>
            <ns1:off x="15872251" y="449794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6" name="Oval 25"/>
          <ns0:cNvSpPr/>
          <ns0:nvPr/>
        </ns0:nvSpPr>
        <ns0:spPr>
          <ns1:xfrm>
            <ns1:off x="16730662" y="4360884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Rectangle 26"/>
          <ns0:cNvSpPr/>
          <ns0:nvPr/>
        </ns0:nvSpPr>
        <ns0:spPr>
          <ns1:xfrm>
            <ns1:off x="914400" y="8715375"/>
            <ns1:ext cx="164592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最新月收入高于去年同月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942975" y="2214562"/>
            <ns1:ext cx="15716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单位：元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928687" y="6672262"/>
            <ns1:ext cx="140017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928687" y="5434012"/>
            <ns1:ext cx="140017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500.0万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928687" y="4195762"/>
            <ns1:ext cx="140017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1000.0万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928687" y="2957512"/>
            <ns1:ext cx="140017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1500.0万</ns1:t>
            </ns1:r>
          </ns1:p>
        </ns0:txBody>
      </ns0:sp>
      <ns0:sp>
        <ns0:nvSpPr>
          <ns0:cNvPr id="34" name="TextBox 33"/>
          <ns0:cNvSpPr txBox="1"/>
          <ns0:nvPr/>
        </ns0:nvSpPr>
        <ns0:spPr>
          <ns1:xfrm>
            <ns1:off x="1900237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2024-01</ns1:t>
            </ns1:r>
          </ns1:p>
        </ns0:txBody>
      </ns0:sp>
      <ns0:sp>
        <ns0:nvSpPr>
          <ns0:cNvPr id="35" name="TextBox 34"/>
          <ns0:cNvSpPr txBox="1"/>
          <ns0:nvPr/>
        </ns0:nvSpPr>
        <ns0:spPr>
          <ns1:xfrm>
            <ns1:off x="4420088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2024-04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6939938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2024-07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9487480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2024-10</ns1:t>
            </ns1:r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12035021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2025-01</ns1:t>
            </ns1:r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14527181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2025-04</ns1:t>
            </ns1:r>
          </ns1:p>
        </ns0:txBody>
      </ns0:sp>
      <ns0:sp>
        <ns0:nvSpPr>
          <ns0:cNvPr id="40" name="TextBox 39"/>
          <ns0:cNvSpPr txBox="1"/>
          <ns0:nvPr/>
        </ns0:nvSpPr>
        <ns0:spPr>
          <ns1:xfrm>
            <ns1:off x="16216312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2025-06</ns1:t>
            </ns1:r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942975" y="8929687"/>
            <ns1:ext cx="16287750" cy="685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2024-01 至 2025-06；全体观测；100000条记录</ns1:t>
            </ns1:r>
          </ns1:p>
        </ns0:txBody>
      </ns0:sp>
      <ns0:sp>
        <ns0:nvSpPr>
          <ns0:cNvPr id="42" name="TextBox 41"/>
          <ns0:cNvSpPr txBox="1"/>
          <ns0:nvPr/>
        </ns0:nvSpPr>
        <ns0:spPr>
          <ns1:xfrm>
            <ns1:off x="942975" y="9444037"/>
            <ns1:ext cx="16202025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合成样本的描述性比较，不证明因果</ns1:t>
            </ns1:r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结论01 · 规模与效率 · 图表依据</ns1:t>
            </ns1:r>
          </ns1:p>
        </ns0:txBody>
      </ns0:sp>
      <ns0:sp>
        <ns0:nvSpPr>
          <ns0:cNvPr id="44" name="TextBox 43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05 / 23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1928812" y="6858000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1928812" y="5929312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1928812" y="5000625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1928812" y="4071937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1928812" y="3143250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Freeform 8"/>
          <ns0:cNvSpPr/>
          <ns0:nvPr/>
        </ns0:nvSpPr>
        <ns0:spPr>
          <ns1:xfrm>
            <ns1:off x="1928812" y="4253761"/>
            <ns1:ext cx="14859000" cy="767528"/>
          </ns1:xfrm>
          <ns1:custGeom>
            <ns1:avLst/>
            <ns1:gdLst/>
            <ns1:ahLst/>
            <ns1:cxnLst/>
            <ns1:rect l="l" t="t" r="r" b="b"/>
            <ns1:pathLst>
              <ns1:path w="14859000" h="767528">
                <ns1:moveTo>
                  <ns1:pt x="0" y="0"/>
                </ns1:moveTo>
                <ns1:moveTo>
                  <ns1:pt x="0" y="181890"/>
                </ns1:moveTo>
                <ns1:lnTo>
                  <ns1:pt x="890965" y="97703"/>
                </ns1:lnTo>
                <ns1:lnTo>
                  <ns1:pt x="1724448" y="114074"/>
                </ns1:lnTo>
                <ns1:lnTo>
                  <ns1:pt x="2615413" y="196473"/>
                </ns1:lnTo>
                <ns1:lnTo>
                  <ns1:pt x="3477638" y="83720"/>
                </ns1:lnTo>
                <ns1:lnTo>
                  <ns1:pt x="4368603" y="189644"/>
                </ns1:lnTo>
                <ns1:lnTo>
                  <ns1:pt x="5230827" y="193029"/>
                </ns1:lnTo>
                <ns1:lnTo>
                  <ns1:pt x="6121793" y="110065"/>
                </ns1:lnTo>
                <ns1:lnTo>
                  <ns1:pt x="7012758" y="190894"/>
                </ns1:lnTo>
                <ns1:lnTo>
                  <ns1:pt x="7874982" y="133833"/>
                </ns1:lnTo>
                <ns1:lnTo>
                  <ns1:pt x="8765947" y="116903"/>
                </ns1:lnTo>
                <ns1:lnTo>
                  <ns1:pt x="9628172" y="86960"/>
                </ns1:lnTo>
                <ns1:lnTo>
                  <ns1:pt x="10519137" y="0"/>
                </ns1:lnTo>
                <ns1:lnTo>
                  <ns1:pt x="11410102" y="108384"/>
                </ns1:lnTo>
                <ns1:lnTo>
                  <ns1:pt x="12214845" y="152118"/>
                </ns1:lnTo>
                <ns1:lnTo>
                  <ns1:pt x="13105810" y="767528"/>
                </ns1:lnTo>
                <ns1:lnTo>
                  <ns1:pt x="13968034" y="709689"/>
                </ns1:lnTo>
                <ns1:lnTo>
                  <ns1:pt x="14859000" y="753804"/>
                </ns1:lnTo>
              </ns1:path>
            </ns1:pathLst>
          </ns1:custGeom>
          <ns1:noFill/>
          <ns1:ln w="42862">
            <ns1:solidFill>
              <ns1:srgbClr val="2457D6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Oval 9"/>
          <ns0:cNvSpPr/>
          <ns0:nvPr/>
        </ns0:nvSpPr>
        <ns0:spPr>
          <ns1:xfrm>
            <ns1:off x="1871662" y="4378501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Oval 10"/>
          <ns0:cNvSpPr/>
          <ns0:nvPr/>
        </ns0:nvSpPr>
        <ns0:spPr>
          <ns1:xfrm>
            <ns1:off x="2762627" y="4294314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Oval 11"/>
          <ns0:cNvSpPr/>
          <ns0:nvPr/>
        </ns0:nvSpPr>
        <ns0:spPr>
          <ns1:xfrm>
            <ns1:off x="3596111" y="431068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Oval 12"/>
          <ns0:cNvSpPr/>
          <ns0:nvPr/>
        </ns0:nvSpPr>
        <ns0:spPr>
          <ns1:xfrm>
            <ns1:off x="4487076" y="439308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Oval 13"/>
          <ns0:cNvSpPr/>
          <ns0:nvPr/>
        </ns0:nvSpPr>
        <ns0:spPr>
          <ns1:xfrm>
            <ns1:off x="5349300" y="4280331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Oval 14"/>
          <ns0:cNvSpPr/>
          <ns0:nvPr/>
        </ns0:nvSpPr>
        <ns0:spPr>
          <ns1:xfrm>
            <ns1:off x="6240265" y="438625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Oval 15"/>
          <ns0:cNvSpPr/>
          <ns0:nvPr/>
        </ns0:nvSpPr>
        <ns0:spPr>
          <ns1:xfrm>
            <ns1:off x="7102490" y="438964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Oval 16"/>
          <ns0:cNvSpPr/>
          <ns0:nvPr/>
        </ns0:nvSpPr>
        <ns0:spPr>
          <ns1:xfrm>
            <ns1:off x="7993455" y="4306676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Oval 17"/>
          <ns0:cNvSpPr/>
          <ns0:nvPr/>
        </ns0:nvSpPr>
        <ns0:spPr>
          <ns1:xfrm>
            <ns1:off x="8884420" y="4387506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9746645" y="433044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Oval 19"/>
          <ns0:cNvSpPr/>
          <ns0:nvPr/>
        </ns0:nvSpPr>
        <ns0:spPr>
          <ns1:xfrm>
            <ns1:off x="10637610" y="4313514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11499834" y="4283571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Oval 21"/>
          <ns0:cNvSpPr/>
          <ns0:nvPr/>
        </ns0:nvSpPr>
        <ns0:spPr>
          <ns1:xfrm>
            <ns1:off x="12390799" y="4196611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Oval 22"/>
          <ns0:cNvSpPr/>
          <ns0:nvPr/>
        </ns0:nvSpPr>
        <ns0:spPr>
          <ns1:xfrm>
            <ns1:off x="13281765" y="430499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4" name="Oval 23"/>
          <ns0:cNvSpPr/>
          <ns0:nvPr/>
        </ns0:nvSpPr>
        <ns0:spPr>
          <ns1:xfrm>
            <ns1:off x="14086507" y="4348729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5" name="Oval 24"/>
          <ns0:cNvSpPr/>
          <ns0:nvPr/>
        </ns0:nvSpPr>
        <ns0:spPr>
          <ns1:xfrm>
            <ns1:off x="14977472" y="496414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6" name="Oval 25"/>
          <ns0:cNvSpPr/>
          <ns0:nvPr/>
        </ns0:nvSpPr>
        <ns0:spPr>
          <ns1:xfrm>
            <ns1:off x="15839697" y="4906300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Oval 26"/>
          <ns0:cNvSpPr/>
          <ns0:nvPr/>
        </ns0:nvSpPr>
        <ns0:spPr>
          <ns1:xfrm>
            <ns1:off x="16730662" y="4950415"/>
            <ns1:ext cx="114300" cy="114300"/>
          </ns1:xfrm>
          <ns1:prstGeom prst="ellipse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8" name="Rectangle 27"/>
          <ns0:cNvSpPr/>
          <ns0:nvPr/>
        </ns0:nvSpPr>
        <ns0:spPr>
          <ns1:xfrm>
            <ns1:off x="914400" y="8715375"/>
            <ns1:ext cx="164592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近期营销投入产出低于去年同期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942975" y="2214562"/>
            <ns1:ext cx="15716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单位：x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928687" y="667226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928687" y="5743575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5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928687" y="4814887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10</ns1:t>
            </ns1:r>
          </ns1:p>
        </ns0:txBody>
      </ns0:sp>
      <ns0:sp>
        <ns0:nvSpPr>
          <ns0:cNvPr id="34" name="TextBox 33"/>
          <ns0:cNvSpPr txBox="1"/>
          <ns0:nvPr/>
        </ns0:nvSpPr>
        <ns0:spPr>
          <ns1:xfrm>
            <ns1:off x="928687" y="3886200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15</ns1:t>
            </ns1:r>
          </ns1:p>
        </ns0:txBody>
      </ns0:sp>
      <ns0:sp>
        <ns0:nvSpPr>
          <ns0:cNvPr id="35" name="TextBox 34"/>
          <ns0:cNvSpPr txBox="1"/>
          <ns0:nvPr/>
        </ns0:nvSpPr>
        <ns0:spPr>
          <ns1:xfrm>
            <ns1:off x="928687" y="295751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1357312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2024-01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3972726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2024-04</ns1:t>
            </ns1:r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6588140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2024-07</ns1:t>
            </ns1:r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9232295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2024-10</ns1:t>
            </ns1:r>
          </ns1:p>
        </ns0:txBody>
      </ns0:sp>
      <ns0:sp>
        <ns0:nvSpPr>
          <ns0:cNvPr id="40" name="TextBox 39"/>
          <ns0:cNvSpPr txBox="1"/>
          <ns0:nvPr/>
        </ns0:nvSpPr>
        <ns0:spPr>
          <ns1:xfrm>
            <ns1:off x="11876449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2025-01</ns1:t>
            </ns1:r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14463122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2025-04</ns1:t>
            </ns1:r>
          </ns1:p>
        </ns0:txBody>
      </ns0:sp>
      <ns0:sp>
        <ns0:nvSpPr>
          <ns0:cNvPr id="42" name="TextBox 41"/>
          <ns0:cNvSpPr txBox="1"/>
          <ns0:nvPr/>
        </ns0:nvSpPr>
        <ns0:spPr>
          <ns1:xfrm>
            <ns1:off x="16216312" y="7072312"/>
            <ns1:ext cx="1357312" cy="7858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2025-06</ns1:t>
            </ns1:r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942975" y="8929687"/>
            <ns1:ext cx="16287750" cy="685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2024-01 至 2025-06；全体观测；100000条记录</ns1:t>
            </ns1:r>
          </ns1:p>
        </ns0:txBody>
      </ns0:sp>
      <ns0:sp>
        <ns0:nvSpPr>
          <ns0:cNvPr id="44" name="TextBox 43"/>
          <ns0:cNvSpPr txBox="1"/>
          <ns0:nvPr/>
        </ns0:nvSpPr>
        <ns0:spPr>
          <ns1:xfrm>
            <ns1:off x="942975" y="9444037"/>
            <ns1:ext cx="16202025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收入除以已记录营销成本，非净利润回报</ns1:t>
            </ns1:r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结论01 · 规模与效率 · 图表依据</ns1:t>
            </ns1:r>
          </ns1:p>
        </ns0:txBody>
      </ns0:sp>
      <ns0:sp>
        <ns0:nvSpPr>
          <ns0:cNvPr id="46" name="TextBox 45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47" name="TextBox 46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06 / 23</ns1:t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内容种草带来较多增长，付费广告效率需优先复核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42975" y="2514600"/>
            <ns1:ext cx="164020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证据与判断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942975" y="3128962"/>
            <ns1:ext cx="16402050" cy="2971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内容种草较去年同月新增收入1,490,839.38元；付费广告收入从</ns1:t>
            </ns1:r>
          </ns1:p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2,667,587.41元降至2,101,965.65元。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42975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业务含义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2975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付费广告营销成本从456,704.31元升至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732,833.12元，投入产出降至2.87x。内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容种草投入产出20.4x，但也低于前月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20.94x，不宜无条件扩大。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329737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适用边界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329737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对比去年同月有助于减少月份差异，但未控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制素材、定向、活动及归因规则；渠道间成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本覆盖不同，不能按平均回报机械搬预算。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结论01 · 规模与效率 · 证据与判断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07 / 23</ns1:t>
            </ns1: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2300287" y="7215187"/>
            <ns1:ext cx="1448752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2300287" y="6204346"/>
            <ns1:ext cx="1448752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2300287" y="5193506"/>
            <ns1:ext cx="1448752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2300287" y="4182665"/>
            <ns1:ext cx="1448752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2300287" y="3171825"/>
            <ns1:ext cx="14487525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2879788" y="4518681"/>
            <ns1:ext cx="1188577" cy="269650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4111228" y="5090435"/>
            <ns1:ext cx="1188577" cy="2124752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501669" y="5414371"/>
            <ns1:ext cx="1188577" cy="1800816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7733109" y="3907370"/>
            <ns1:ext cx="1188577" cy="330781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ectangle 12"/>
          <ns0:cNvSpPr/>
          <ns0:nvPr/>
        </ns0:nvSpPr>
        <ns0:spPr>
          <ns1:xfrm>
            <ns1:off x="10123551" y="4452752"/>
            <ns1:ext cx="1188577" cy="276243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Rectangle 13"/>
          <ns0:cNvSpPr/>
          <ns0:nvPr/>
        </ns0:nvSpPr>
        <ns0:spPr>
          <ns1:xfrm>
            <ns1:off x="11354990" y="4070507"/>
            <ns1:ext cx="1188577" cy="3144679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ectangle 14"/>
          <ns0:cNvSpPr/>
          <ns0:nvPr/>
        </ns0:nvSpPr>
        <ns0:spPr>
          <ns1:xfrm>
            <ns1:off x="13745432" y="6063073"/>
            <ns1:ext cx="1188577" cy="1152114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ectangle 15"/>
          <ns0:cNvSpPr/>
          <ns0:nvPr/>
        </ns0:nvSpPr>
        <ns0:spPr>
          <ns1:xfrm>
            <ns1:off x="14976871" y="5833156"/>
            <ns1:ext cx="1188577" cy="1382031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Rectangle 16"/>
          <ns0:cNvSpPr/>
          <ns0:nvPr/>
        </ns0:nvSpPr>
        <ns0:spPr>
          <ns1:xfrm>
            <ns1:off x="928687" y="8543925"/>
            <ns1:ext cx="185737" cy="185737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Rectangle 17"/>
          <ns0:cNvSpPr/>
          <ns0:nvPr/>
        </ns0:nvSpPr>
        <ns0:spPr>
          <ns1:xfrm>
            <ns1:off x="9036843" y="8543925"/>
            <ns1:ext cx="185737" cy="1857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内容种草收入同比增长，付费广告下降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942975" y="2257425"/>
            <ns1:ext cx="16402050" cy="5143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单位：元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928687" y="7029450"/>
            <ns1:ext cx="12287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928687" y="6018609"/>
            <ns1:ext cx="12287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100.0万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928687" y="5007768"/>
            <ns1:ext cx="12287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200.0万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928687" y="3996928"/>
            <ns1:ext cx="12287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300.0万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928687" y="2986087"/>
            <ns1:ext cx="12287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400.0万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2300287" y="7386637"/>
            <ns1:ext cx="356473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2300287" y="7915275"/>
            <ns1:ext cx="3564731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1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下降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2708338" y="4104344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266.8万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3939778" y="4676097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210.2万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5922168" y="7386637"/>
            <ns1:ext cx="356473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内容种草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5922168" y="7915275"/>
            <ns1:ext cx="3564731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1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收入同比增长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6330219" y="5000033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178.2万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7561659" y="3493032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327.2万</ns1:t>
            </ns1:r>
          </ns1:p>
        </ns0:txBody>
      </ns0:sp>
      <ns0:sp>
        <ns0:nvSpPr>
          <ns0:cNvPr id="34" name="TextBox 33"/>
          <ns0:cNvSpPr txBox="1"/>
          <ns0:nvPr/>
        </ns0:nvSpPr>
        <ns0:spPr>
          <ns1:xfrm>
            <ns1:off x="9544050" y="7386637"/>
            <ns1:ext cx="356473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自然搜索</ns1:t>
            </ns1:r>
          </ns1:p>
        </ns0:txBody>
      </ns0:sp>
      <ns0:sp>
        <ns0:nvSpPr>
          <ns0:cNvPr id="35" name="TextBox 34"/>
          <ns0:cNvSpPr txBox="1"/>
          <ns0:nvPr/>
        </ns0:nvSpPr>
        <ns0:spPr>
          <ns1:xfrm>
            <ns1:off x="9952101" y="4038414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273.3万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11183540" y="3656170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311.1万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13165931" y="7386637"/>
            <ns1:ext cx="356473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转介绍</ns1:t>
            </ns1:r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13573982" y="5648735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114.0万</ns1:t>
            </ns1:r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14805421" y="5418818"/>
            <ns1:ext cx="173150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136.7万</ns1:t>
            </ns1:r>
          </ns1:p>
        </ns0:txBody>
      </ns0:sp>
      <ns0:sp>
        <ns0:nvSpPr>
          <ns0:cNvPr id="40" name="TextBox 39"/>
          <ns0:cNvSpPr txBox="1"/>
          <ns0:nvPr/>
        </ns0:nvSpPr>
        <ns0:spPr>
          <ns1:xfrm>
            <ns1:off x="1214437" y="8429625"/>
            <ns1:ext cx="7708106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收入前期</ns1:t>
            </ns1:r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9322593" y="8429625"/>
            <ns1:ext cx="7708106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收入本期</ns1:t>
            </ns1:r>
          </ns1:p>
        </ns0:txBody>
      </ns0:sp>
      <ns0:sp>
        <ns0:nvSpPr>
          <ns0:cNvPr id="42" name="TextBox 41"/>
          <ns0:cNvSpPr txBox="1"/>
          <ns0:nvPr/>
        </ns0:nvSpPr>
        <ns0:spPr>
          <ns1:xfrm>
            <ns1:off x="942975" y="8958262"/>
            <ns1:ext cx="164020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2024-06 至 2025-06；全体观测；10950条记录</ns1:t>
            </ns1:r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942975" y="9458325"/>
            <ns1:ext cx="16402050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前期为去年六月，本期为今年六月；描述性归因，不证明因果</ns1:t>
            </ns1:r>
          </ns1:p>
        </ns0:txBody>
      </ns0:sp>
      <ns0:sp>
        <ns0:nvSpPr>
          <ns0:cNvPr id="44" name="TextBox 43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结论01 · 规模与效率 · 图表依据</ns1:t>
            </ns1:r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46" name="TextBox 45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08 / 23</ns1:t>
            </ns1: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7400925" y="6557962"/>
            <ns1:ext cx="9615487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7400925" y="5067300"/>
            <ns1:ext cx="9615487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7400925" y="3576637"/>
            <ns1:ext cx="9615487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7400925" y="2085975"/>
            <ns1:ext cx="9615487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7785544" y="6122618"/>
            <ns1:ext cx="774453" cy="435344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8602860" y="6344181"/>
            <ns1:ext cx="774453" cy="213781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10189416" y="5268271"/>
            <ns1:ext cx="774453" cy="1289691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ectangle 10"/>
          <ns0:cNvSpPr/>
          <ns0:nvPr/>
        </ns0:nvSpPr>
        <ns0:spPr>
          <ns1:xfrm>
            <ns1:off x="11006732" y="5037837"/>
            <ns1:ext cx="774453" cy="1520125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12593288" y="2777218"/>
            <ns1:ext cx="774453" cy="3780744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ectangle 12"/>
          <ns0:cNvSpPr/>
          <ns0:nvPr/>
        </ns0:nvSpPr>
        <ns0:spPr>
          <ns1:xfrm>
            <ns1:off x="13410604" y="3032220"/>
            <ns1:ext cx="774453" cy="3525741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Rectangle 13"/>
          <ns0:cNvSpPr/>
          <ns0:nvPr/>
        </ns0:nvSpPr>
        <ns0:spPr>
          <ns1:xfrm>
            <ns1:off x="14997160" y="3363352"/>
            <ns1:ext cx="774453" cy="3194609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ectangle 14"/>
          <ns0:cNvSpPr/>
          <ns0:nvPr/>
        </ns0:nvSpPr>
        <ns0:spPr>
          <ns1:xfrm>
            <ns1:off x="15814476" y="3149756"/>
            <ns1:ext cx="774453" cy="3408205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ectangle 15"/>
          <ns0:cNvSpPr/>
          <ns0:nvPr/>
        </ns0:nvSpPr>
        <ns0:spPr>
          <ns1:xfrm>
            <ns1:off x="6400800" y="7886700"/>
            <ns1:ext cx="185737" cy="185737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Rectangle 16"/>
          <ns0:cNvSpPr/>
          <ns0:nvPr/>
        </ns0:nvSpPr>
        <ns0:spPr>
          <ns1:xfrm>
            <ns1:off x="11887200" y="7886700"/>
            <ns1:ext cx="185737" cy="1857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Rectangle 17"/>
          <ns0:cNvSpPr/>
          <ns0:nvPr/>
        </ns0:nvSpPr>
        <ns0:spPr>
          <ns1:xfrm>
            <ns1:off x="914400" y="8715375"/>
            <ns1:ext cx="164592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914400" y="1071562"/>
            <ns1:ext cx="5214937" cy="2686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付费广告投入产出</ns1:t>
            </ns1:r>
          </ns1:p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低于去年同月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942975" y="4014787"/>
            <ns1:ext cx="4929187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业务含义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942975" y="4629150"/>
            <ns1:ext cx="4943475" cy="3314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付费广告营销成本从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456,704.31元升至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732,833.12元，投入产出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降至2.87x。内容种草投入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产出20.4x，但也低于前月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20.94x，不宜无条件扩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大。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6829425" y="1257300"/>
            <ns1:ext cx="10001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单位：x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6400800" y="6372225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6400800" y="488156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6400800" y="3390900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40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6400800" y="1900237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60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7400925" y="6729412"/>
            <ns1:ext cx="234672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7614094" y="5708280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5.84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8431410" y="5929843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2.87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9804796" y="6729412"/>
            <ns1:ext cx="234672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内容种草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10017966" y="4853933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17.3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10835282" y="4623499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20.4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12208668" y="6729412"/>
            <ns1:ext cx="234672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自然搜索</ns1:t>
            </ns1:r>
          </ns1:p>
        </ns0:txBody>
      </ns0:sp>
      <ns0:sp>
        <ns0:nvSpPr>
          <ns0:cNvPr id="34" name="TextBox 33"/>
          <ns0:cNvSpPr txBox="1"/>
          <ns0:nvPr/>
        </ns0:nvSpPr>
        <ns0:spPr>
          <ns1:xfrm>
            <ns1:off x="12421838" y="2362880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50.73</ns1:t>
            </ns1:r>
          </ns1:p>
        </ns0:txBody>
      </ns0:sp>
      <ns0:sp>
        <ns0:nvSpPr>
          <ns0:cNvPr id="35" name="TextBox 34"/>
          <ns0:cNvSpPr txBox="1"/>
          <ns0:nvPr/>
        </ns0:nvSpPr>
        <ns0:spPr>
          <ns1:xfrm>
            <ns1:off x="13239154" y="2617883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47.3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14612540" y="6729412"/>
            <ns1:ext cx="2346721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转介绍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14825710" y="2949015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42.86</ns1:t>
            </ns1:r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15643026" y="2735419"/>
            <ns1:ext cx="1317378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45.73</ns1:t>
            </ns1:r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6686550" y="7772400"/>
            <ns1:ext cx="50863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投入产出比（ROAS）前期</ns1:t>
            </ns1:r>
          </ns1:p>
        </ns0:txBody>
      </ns0:sp>
      <ns0:sp>
        <ns0:nvSpPr>
          <ns0:cNvPr id="40" name="TextBox 39"/>
          <ns0:cNvSpPr txBox="1"/>
          <ns0:nvPr/>
        </ns0:nvSpPr>
        <ns0:spPr>
          <ns1:xfrm>
            <ns1:off x="12172950" y="7772400"/>
            <ns1:ext cx="50863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投入产出比（ROAS）本期</ns1:t>
            </ns1:r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942975" y="8929687"/>
            <ns1:ext cx="16287750" cy="685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2024-06 至 2025-06；全体观测；10950条记录</ns1:t>
            </ns1:r>
          </ns1:p>
        </ns0:txBody>
      </ns0:sp>
      <ns0:sp>
        <ns0:nvSpPr>
          <ns0:cNvPr id="42" name="TextBox 41"/>
          <ns0:cNvSpPr txBox="1"/>
          <ns0:nvPr/>
        </ns0:nvSpPr>
        <ns0:spPr>
          <ns1:xfrm>
            <ns1:off x="942975" y="9444037"/>
            <ns1:ext cx="16202025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前期去年六月，本期今年六月；各渠道成本按原表记录</ns1:t>
            </ns1:r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结论01 · 规模与效率 · 图表依据</ns1:t>
            </ns1:r>
          </ns1:p>
        </ns0:txBody>
      </ns0:sp>
      <ns0:sp>
        <ns0:nvSpPr>
          <ns0:cNvPr id="44" name="TextBox 43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09 / 23</ns1:t>
            </ns1: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服饰退款压力突出，应与投放增长同步处理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42975" y="2514600"/>
            <ns1:ext cx="164020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证据与判断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942975" y="3128962"/>
            <ns1:ext cx="16402050" cy="2971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服饰最新退款金额占收入18.56%，前月为17.41%；最新数码为4.73%，</ns1:t>
            </ns1:r>
          </ns1:p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家居为4.22%。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42975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业务含义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2975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服饰收入仍增长，但退款比例也在上升，扩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大获客可能同时放大售后压力。需要先对齐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退款归属，再核验尺码、质量、物流等可能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原因。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329737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适用边界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329737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退款率是金额比例，不是退款订单率。缺少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订单关联、退款发生时点及原因字段，不能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把同月金额比直接解释为同批订单退款概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率。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结论02 · 售后压力 · 证据与判断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10 / 23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1928812" y="6858000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1928812" y="5619750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1928812" y="4381500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1928812" y="3143250"/>
            <ns1:ext cx="148590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2404300" y="6538174"/>
            <ns1:ext cx="967549" cy="31982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3414712" y="6520501"/>
            <ns1:ext cx="967549" cy="337498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5376100" y="6334296"/>
            <ns1:ext cx="967549" cy="523703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386512" y="6335862"/>
            <ns1:ext cx="967549" cy="5221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8347900" y="6332144"/>
            <ns1:ext cx="967549" cy="52585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ectangle 12"/>
          <ns0:cNvSpPr/>
          <ns0:nvPr/>
        </ns0:nvSpPr>
        <ns0:spPr>
          <ns1:xfrm>
            <ns1:off x="9358312" y="6272169"/>
            <ns1:ext cx="967549" cy="585830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Rectangle 13"/>
          <ns0:cNvSpPr/>
          <ns0:nvPr/>
        </ns0:nvSpPr>
        <ns0:spPr>
          <ns1:xfrm>
            <ns1:off x="11319700" y="4701939"/>
            <ns1:ext cx="967549" cy="2156060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ectangle 14"/>
          <ns0:cNvSpPr/>
          <ns0:nvPr/>
        </ns0:nvSpPr>
        <ns0:spPr>
          <ns1:xfrm>
            <ns1:off x="12330112" y="4559925"/>
            <ns1:ext cx="967549" cy="2298074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ectangle 15"/>
          <ns0:cNvSpPr/>
          <ns0:nvPr/>
        </ns0:nvSpPr>
        <ns0:spPr>
          <ns1:xfrm>
            <ns1:off x="14291500" y="6549659"/>
            <ns1:ext cx="967549" cy="308340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Rectangle 16"/>
          <ns0:cNvSpPr/>
          <ns0:nvPr/>
        </ns0:nvSpPr>
        <ns0:spPr>
          <ns1:xfrm>
            <ns1:off x="15301912" y="6556804"/>
            <ns1:ext cx="967549" cy="301195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Rectangle 17"/>
          <ns0:cNvSpPr/>
          <ns0:nvPr/>
        </ns0:nvSpPr>
        <ns0:spPr>
          <ns1:xfrm>
            <ns1:off x="928687" y="8186737"/>
            <ns1:ext cx="185737" cy="185737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Rectangle 18"/>
          <ns0:cNvSpPr/>
          <ns0:nvPr/>
        </ns0:nvSpPr>
        <ns0:spPr>
          <ns1:xfrm>
            <ns1:off x="9036843" y="8186737"/>
            <ns1:ext cx="185737" cy="1857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Rectangle 19"/>
          <ns0:cNvSpPr/>
          <ns0:nvPr/>
        </ns0:nvSpPr>
        <ns0:spPr>
          <ns1:xfrm>
            <ns1:off x="914400" y="8715375"/>
            <ns1:ext cx="164592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服饰退款金额占收入最高且较前月上升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942975" y="2214562"/>
            <ns1:ext cx="15716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单位：%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928687" y="667226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928687" y="543401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10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928687" y="419576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928687" y="2957512"/>
            <ns1:ext cx="857250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30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1928812" y="7029450"/>
            <ns1:ext cx="291465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办公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2232850" y="6123836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2.58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3243262" y="6106163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2.73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4900612" y="7029450"/>
            <ns1:ext cx="291465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家居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5204650" y="5919958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4.23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6215062" y="5921524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4.22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7872412" y="7029450"/>
            <ns1:ext cx="291465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数码</ns1:t>
            </ns1:r>
          </ns1:p>
        </ns0:txBody>
      </ns0:sp>
      <ns0:sp>
        <ns0:nvSpPr>
          <ns0:cNvPr id="34" name="TextBox 33"/>
          <ns0:cNvSpPr txBox="1"/>
          <ns0:nvPr/>
        </ns0:nvSpPr>
        <ns0:spPr>
          <ns1:xfrm>
            <ns1:off x="8176450" y="5917807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4.25</ns1:t>
            </ns1:r>
          </ns1:p>
        </ns0:txBody>
      </ns0:sp>
      <ns0:sp>
        <ns0:nvSpPr>
          <ns0:cNvPr id="35" name="TextBox 34"/>
          <ns0:cNvSpPr txBox="1"/>
          <ns0:nvPr/>
        </ns0:nvSpPr>
        <ns0:spPr>
          <ns1:xfrm>
            <ns1:off x="9186862" y="5857832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4.73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10844212" y="7029450"/>
            <ns1:ext cx="291465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11148250" y="4287602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17.41</ns1:t>
            </ns1:r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12158662" y="4145588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18.56</ns1:t>
            </ns1:r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13816012" y="7029450"/>
            <ns1:ext cx="2914650" cy="928687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食品</ns1:t>
            </ns1:r>
          </ns1:p>
        </ns0:txBody>
      </ns0:sp>
      <ns0:sp>
        <ns0:nvSpPr>
          <ns0:cNvPr id="40" name="TextBox 39"/>
          <ns0:cNvSpPr txBox="1"/>
          <ns0:nvPr/>
        </ns0:nvSpPr>
        <ns0:spPr>
          <ns1:xfrm>
            <ns1:off x="14120050" y="6135321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2.49</ns1:t>
            </ns1:r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15130462" y="6142466"/>
            <ns1:ext cx="1510474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2.43</ns1:t>
            </ns1:r>
          </ns1:p>
        </ns0:txBody>
      </ns0:sp>
      <ns0:sp>
        <ns0:nvSpPr>
          <ns0:cNvPr id="42" name="TextBox 41"/>
          <ns0:cNvSpPr txBox="1"/>
          <ns0:nvPr/>
        </ns0:nvSpPr>
        <ns0:spPr>
          <ns1:xfrm>
            <ns1:off x="1214437" y="8072437"/>
            <ns1:ext cx="7708106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退款率前期</ns1:t>
            </ns1:r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9322593" y="8072437"/>
            <ns1:ext cx="7708106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退款率本期</ns1:t>
            </ns1:r>
          </ns1:p>
        </ns0:txBody>
      </ns0:sp>
      <ns0:sp>
        <ns0:nvSpPr>
          <ns0:cNvPr id="44" name="TextBox 43"/>
          <ns0:cNvSpPr txBox="1"/>
          <ns0:nvPr/>
        </ns0:nvSpPr>
        <ns0:spPr>
          <ns1:xfrm>
            <ns1:off x="942975" y="8929687"/>
            <ns1:ext cx="16287750" cy="685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2025-05 至 2025-06；全体观测；11102条记录</ns1:t>
            </ns1:r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942975" y="9444037"/>
            <ns1:ext cx="16202025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前期五月，本期六月；退款金额除以收入，非退款订单率</ns1:t>
            </ns1:r>
          </ns1:p>
        </ns0:txBody>
      </ns0:sp>
      <ns0:sp>
        <ns0:nvSpPr>
          <ns0:cNvPr id="46" name="TextBox 45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结论02 · 售后压力 · 图表依据</ns1:t>
            </ns1:r>
          </ns1:p>
        </ns0:txBody>
      </ns0:sp>
      <ns0:sp>
        <ns0:nvSpPr>
          <ns0:cNvPr id="47" name="TextBox 46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48" name="TextBox 47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11 / 23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高价值客表现较好，但存量优势不等于可复制增长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42975" y="2514600"/>
            <ns1:ext cx="164020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证据与判断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942975" y="3128962"/>
            <ns1:ext cx="16402050" cy="2971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全期高价值客收入占比32.82%，营销成本占比15.85%；投入产出26.06</ns1:t>
            </ns1:r>
          </ns1:p>
          <ns1:p>
            <ns1:pPr algn="l">
              <ns1:lnSpc>
                <ns1:spcPct val="122000"/>
              </ns1:lnSpc>
            </ns1:pPr>
            <ns1:r>
              <ns1:rPr sz="3600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x。沉睡唤醒群体投入产出5.87x。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42975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业务含义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2975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可优先验证高价值客维护与转介绍的增量效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果；唤醒活动需单独核对触达成本和有效回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流，避免仅用收入规模评价。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329737" y="6329362"/>
            <ns1:ext cx="7643812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适用边界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329737" y="6943725"/>
            <ns1:ext cx="7643812" cy="289750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没有客户唯一标识与层级历史，无法计算留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存或生命周期价值；高价值标签可能本就依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赖消费表现，组间差异不是运营因果证据。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结论03 · 客户经营 · 证据与判断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12 / 23</ns1:t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582912" y="2085975"/>
            <ns1:ext cx="14287" cy="44719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12060745" y="2085975"/>
            <ns1:ext cx="14287" cy="44719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14538578" y="2085975"/>
            <ns1:ext cx="14287" cy="44719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17016412" y="2085975"/>
            <ns1:ext cx="14287" cy="44719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9582912" y="2264854"/>
            <ns1:ext cx="1981309" cy="71737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9582912" y="3382851"/>
            <ns1:ext cx="1453423" cy="71737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9582912" y="4500848"/>
            <ns1:ext cx="3392029" cy="71737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ectangle 10"/>
          <ns0:cNvSpPr/>
          <ns0:nvPr/>
        </ns0:nvSpPr>
        <ns0:spPr>
          <ns1:xfrm>
            <ns1:off x="9582912" y="5618845"/>
            <ns1:ext cx="6456165" cy="71737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914400" y="8715375"/>
            <ns1:ext cx="1645920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14400" y="1071562"/>
            <ns1:ext cx="5214937" cy="2686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高价值客投入产出</ns1:t>
            </ns1:r>
          </ns1:p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高，沉睡唤醒群</ns1:t>
            </ns1:r>
          </ns1:p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体低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942975" y="4014787"/>
            <ns1:ext cx="4929187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证据与判断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942975" y="4629150"/>
            <ns1:ext cx="4943475" cy="3314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全期高价值客收入占比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32.82%，营销成本占比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15.85%；投入产出26.06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x。沉睡唤醒群体投入产出</ns1:t>
            </ns1:r>
          </ns1:p>
          <ns1:p>
            <ns1:pPr algn="l">
              <ns1:lnSpc>
                <ns1:spcPct val="122000"/>
              </ns1:lnSpc>
            </ns1:pPr>
            <ns1:r>
              <ns1:rPr sz="281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5.87x。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6829425" y="1257300"/>
            <ns1:ext cx="10001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单位：x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9082849" y="6772275"/>
            <ns1:ext cx="11144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0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11560683" y="6772275"/>
            <ns1:ext cx="11144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10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4038516" y="6772275"/>
            <ns1:ext cx="11144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6516350" y="6772275"/>
            <ns1:ext cx="1114425" cy="4286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30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6400800" y="2273498"/>
            <ns1:ext cx="3010661" cy="8572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新客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11678521" y="2221992"/>
            <ns1:ext cx="128587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8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6400800" y="3391495"/>
            <ns1:ext cx="3010661" cy="8572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沉睡唤醒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11150635" y="3339988"/>
            <ns1:ext cx="128587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5.87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6400800" y="4509492"/>
            <ns1:ext cx="3010661" cy="8572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活跃客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13089241" y="4457985"/>
            <ns1:ext cx="128587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13.69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6400800" y="5627489"/>
            <ns1:ext cx="3010661" cy="8572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高价值客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16153377" y="5575982"/>
            <ns1:ext cx="128587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3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26.06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942975" y="8929687"/>
            <ns1:ext cx="16287750" cy="6858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2024-01 至 2025-06；全体观测；100000条记录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942975" y="9444037"/>
            <ns1:ext cx="16202025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全期记录汇总，非独立客户终身价值；收入除以营销成本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结论03 · 客户经营 · 图表依据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判断展开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13 / 23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1300162" y="5514975"/>
            <ns1:ext cx="15459075" cy="42862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5372100"/>
            <ns1:ext cx="828675" cy="5715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14400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14400" y="6043612"/>
            <ns1:ext cx="57150" cy="317182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6543675" y="5372100"/>
            <ns1:ext cx="828675" cy="5715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6543675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6543675" y="6043612"/>
            <ns1:ext cx="57150" cy="3171825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ectangle 10"/>
          <ns0:cNvSpPr/>
          <ns0:nvPr/>
        </ns0:nvSpPr>
        <ns0:spPr>
          <ns1:xfrm>
            <ns1:off x="12172950" y="5372100"/>
            <ns1:ext cx="828675" cy="5715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12172950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ectangle 12"/>
          <ns0:cNvSpPr/>
          <ns0:nvPr/>
        </ns0:nvSpPr>
        <ns0:spPr>
          <ns1:xfrm>
            <ns1:off x="12172950" y="6043612"/>
            <ns1:ext cx="57150" cy="3171825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先核验付费效率，再进行有限预算对照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942975" y="2600325"/>
            <ns1:ext cx="25717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58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行动对象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3686175" y="2600325"/>
            <ns1:ext cx="13573125" cy="11144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付费广告的投放配置与内容种草渠道的增量验证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942975" y="3800475"/>
            <ns1:ext cx="25717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58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依据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3686175" y="3800475"/>
            <ns1:ext cx="13573125" cy="14716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付费广告收入同比下降、营销成本上升；内容种草增长较多，但短期回报也有回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落。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028700" y="5286375"/>
            <ns1:ext cx="771525" cy="6572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37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01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228725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固定归因窗口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6657975" y="5286375"/>
            <ns1:ext cx="771525" cy="6572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375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6858000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拆查定向、素材和活动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12287250" y="5286375"/>
            <ns1:ext cx="771525" cy="6572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375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12487275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有限预算对照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1228725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按相近受众与品类固定归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因窗口，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6858000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拆查定向、素材和活动；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12487275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用有限预算对照验证渠道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增量，不一次性搬迁预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算。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行动01 · 对应结论01 · 执行安排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行动安排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14 / 23</ns1:t>
            </ns1: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3286125"/>
            <ns1:ext cx="7829550" cy="554355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3286125"/>
            <ns1:ext cx="7829550" cy="714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0" y="3286125"/>
            <ns1:ext cx="7829550" cy="554355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429750" y="3286125"/>
            <ns1:ext cx="7829550" cy="71437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先核验付费效率，再进行有限预算对照：验证与边界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314450" y="3771900"/>
            <ns1:ext cx="7000875" cy="7429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验证信号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314450" y="5172075"/>
            <ns1:ext cx="7000875" cy="35718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同口径增量收入与扣除退款后的贡献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改善，获客质量没有恶化。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829800" y="3771900"/>
            <ns1:ext cx="7000875" cy="7429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行动边界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829800" y="5172075"/>
            <ns1:ext cx="7000875" cy="35718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原表没有完整成本和毛利，先补齐核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算；回报下降或退款扩大时暂停追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加。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行动01 · 对应结论01 · 验证与边界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行动安排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15 / 23</ns1:t>
            </ns1: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6043612"/>
            <ns1:ext cx="57150" cy="317182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6543675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6543675" y="6043612"/>
            <ns1:ext cx="57150" cy="3171825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12172950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12172950" y="6043612"/>
            <ns1:ext cx="57150" cy="3171825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优先核验服饰退款原因与归属时点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42975" y="2600325"/>
            <ns1:ext cx="25717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58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行动对象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3686175" y="2600325"/>
            <ns1:ext cx="13573125" cy="11144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服饰品类的订单、退款记录及售后问题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42975" y="3800475"/>
            <ns1:ext cx="25717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58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依据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3686175" y="3800475"/>
            <ns1:ext cx="13573125" cy="14716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服饰前后两月退款金额比例较高且上升，收入增长不能替代售后质量检查。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228725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关联订单与退款日期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6858000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核验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12487275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有限范围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1228725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关联订单与退款日期，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6858000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按商品及原因核验，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2487275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针对已确认问题进行有限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范围商品说明、质量或履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约改进。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行动02 · 对应结论02 · 执行安排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行动安排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16 / 23</ns1:t>
            </ns1:r>
          </ns1:p>
        </ns0:txBody>
      </ns0:sp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3286125"/>
            <ns1:ext cx="7829550" cy="554355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3286125"/>
            <ns1:ext cx="7829550" cy="714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0" y="3286125"/>
            <ns1:ext cx="7829550" cy="554355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429750" y="3286125"/>
            <ns1:ext cx="7829550" cy="71437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优先核验服饰退款原因与归属时点：验证与边界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314450" y="3771900"/>
            <ns1:ext cx="7000875" cy="7429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验证信号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314450" y="5172075"/>
            <ns1:ext cx="7000875" cy="35718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同批订单相同观察窗口的退款金额比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例下降，成交及投诉表现没有恶化。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829800" y="3771900"/>
            <ns1:ext cx="7000875" cy="7429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行动边界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829800" y="5172075"/>
            <ns1:ext cx="7000875" cy="35718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未对齐退款窗口不设硬性团队考核，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不以阻碍合理退款压低指标。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行动02 · 对应结论02 · 验证与边界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行动安排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17 / 23</ns1:t>
            </ns1:r>
          </ns1:p>
        </ns0:txBody>
      </ns0:sp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6043612"/>
            <ns1:ext cx="57150" cy="3171825"/>
          </ns1:xfrm>
          <ns1:prstGeom prst="rect">
            <ns1:avLst/>
          </ns1:prstGeom>
          <ns1:solidFill>
            <ns1:srgbClr val="2457D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6543675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6543675" y="6043612"/>
            <ns1:ext cx="57150" cy="3171825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12172950" y="6043612"/>
            <ns1:ext cx="5200650" cy="3171825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Rectangle 8"/>
          <ns0:cNvSpPr/>
          <ns0:nvPr/>
        </ns0:nvSpPr>
        <ns0:spPr>
          <ns1:xfrm>
            <ns1:off x="12172950" y="6043612"/>
            <ns1:ext cx="57150" cy="3171825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对客户维护和唤醒分别验证增量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42975" y="2600325"/>
            <ns1:ext cx="25717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58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行动对象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3686175" y="2600325"/>
            <ns1:ext cx="13573125" cy="11144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高价值客的维护活动与沉睡唤醒人群的召回活动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42975" y="3800475"/>
            <ns1:ext cx="2571750" cy="5000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58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依据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3686175" y="3800475"/>
            <ns1:ext cx="13573125" cy="147161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高价值客与沉睡唤醒群体的投入产出差异较大，但标签和成本口径可能影响比较。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228725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补齐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6858000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保留对照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12487275" y="6272212"/>
            <ns1:ext cx="4572000" cy="10287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分别验证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1228725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补齐稳定客户标识和期初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分层，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6858000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在同一层内保留对照，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2487275" y="7400925"/>
            <ns1:ext cx="4572000" cy="191452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分别验证维护、转介绍和</ns1:t>
            </ns1:r>
          </ns1:p>
          <ns1:p>
            <ns1:pPr algn="l">
              <ns1:lnSpc>
                <ns1:spcPct val="122000"/>
              </ns1:lnSpc>
            </ns1:pPr>
            <ns1:r>
              <ns1:rPr sz="2925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唤醒活动。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行动03 · 对应结论03 · 执行安排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行动安排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18 / 23</ns1:t>
            </ns1:r>
          </ns1:p>
        </ns0:txBody>
      </ns0:sp>
    </ns0:spTree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14400" y="3286125"/>
            <ns1:ext cx="7829550" cy="554355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14400" y="3286125"/>
            <ns1:ext cx="7829550" cy="71437"/>
          </ns1:xfrm>
          <ns1:prstGeom prst="rect">
            <ns1:avLst/>
          </ns1:prstGeom>
          <ns1:solidFill>
            <ns1:srgbClr val="0F6B4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0" y="3286125"/>
            <ns1:ext cx="7829550" cy="554355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429750" y="3286125"/>
            <ns1:ext cx="7829550" cy="71437"/>
          </ns1:xfrm>
          <ns1:prstGeom prst="rect">
            <ns1:avLst/>
          </ns1:prstGeom>
          <ns1:solidFill>
            <ns1:srgbClr val="915D0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928687"/>
            <ns1:ext cx="16459200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对客户维护和唤醒分别验证增量：验证与边界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314450" y="3771900"/>
            <ns1:ext cx="7000875" cy="7429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1">
                <ns1:solidFill>
                  <ns1:srgbClr val="0F6B4C"/>
                </ns1:solidFill>
                <ns1:latin typeface="Microsoft YaHei"/>
                <ns1:ea typeface="Microsoft YaHei"/>
                <ns1:cs typeface="Microsoft YaHei"/>
              </ns1:rPr>
              <ns1:t>验证信号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314450" y="5172075"/>
            <ns1:ext cx="7000875" cy="35718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同层同窗口的增量贡献改善，退订或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投诉未增加。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829800" y="3771900"/>
            <ns1:ext cx="7000875" cy="7429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600" b="1">
                <ns1:solidFill>
                  <ns1:srgbClr val="915D06"/>
                </ns1:solidFill>
                <ns1:latin typeface="Microsoft YaHei"/>
                <ns1:ea typeface="Microsoft YaHei"/>
                <ns1:cs typeface="Microsoft YaHei"/>
              </ns1:rPr>
              <ns1:t>行动边界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829800" y="5172075"/>
            <ns1:ext cx="7000875" cy="35718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未获得增量证据前不承诺生命周期价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值，不将不同层级平均差异当作活动</ns1:t>
            </ns1:r>
          </ns1:p>
          <ns1:p>
            <ns1:pPr algn="l">
              <ns1:lnSpc>
                <ns1:spcPct val="122000"/>
              </ns1:lnSpc>
            </ns1:pPr>
            <ns1:r>
              <ns1:rPr sz="3262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收益。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行动03 · 对应结论03 · 验证与边界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行动安排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19 / 23</ns1:t>
            </ns1:r>
          </ns1:p>
        </ns0:txBody>
      </ns0:sp>
    </ns0:spTree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42975" y="31003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42975" y="51577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" y="71008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数据范围与期间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2975" y="2471737"/>
            <ns1:ext cx="3143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项目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4900612" y="2471737"/>
            <ns1:ext cx="1185862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口径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942975" y="35433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期间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4900612" y="35433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2024-01 至 2025-06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42975" y="54864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完整性处理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4900612" y="54864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排除未完成周期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附录 · 数据范围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附录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20 / 23</ns1:t>
            </ns1:r>
          </ns1:p>
        </ns0:txBody>
      </ns0:sp>
    </ns0:spTree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42975" y="31003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42975" y="51577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" y="71008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42975" y="90439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指标定义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42975" y="2471737"/>
            <ns1:ext cx="3143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项目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4900612" y="2471737"/>
            <ns1:ext cx="1185862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口径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42975" y="35433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收入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4900612" y="35433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收入：sum；单位 元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42975" y="54864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订单数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4900612" y="54864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订单数：sum；单位 单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942975" y="74295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转化率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4900612" y="74295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订单数 合计 ÷ 访问量 合计 × 100.0；单位 %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附录 · 指标定义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附录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21 / 23</ns1:t>
            </ns1:r>
          </ns1:p>
        </ns0:txBody>
      </ns0:sp>
    </ns0:spTree>
  </ns0:cSld>
  <ns0:clrMapOvr>
    <ns1:masterClrMapping/>
  </ns0:clrMapOvr>
</ns0:sld>
</file>

<file path=ppt/slides/slide22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42975" y="31003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42975" y="51577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" y="71008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42975" y="90439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指标定义（续）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42975" y="2471737"/>
            <ns1:ext cx="3143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项目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4900612" y="2471737"/>
            <ns1:ext cx="1185862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口径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42975" y="35433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退款率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4900612" y="35433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退款金额 合计 ÷ 收入 合计 × 100.0；单位 %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42975" y="54864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营销成本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4900612" y="54864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营销成本：sum；单位 元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942975" y="74295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投入产出比（</ns1:t>
            </ns1:r>
          </ns1:p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ROAS）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4900612" y="74295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收入 合计 ÷ 营销成本 合计 × 1.0；单位 x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附录 · 指标定义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附录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22 / 23</ns1:t>
            </ns1:r>
          </ns1:p>
        </ns0:txBody>
      </ns0:sp>
    </ns0:spTree>
  </ns0:cSld>
  <ns0:clrMapOvr>
    <ns1:masterClrMapping/>
  </ns0:clrMapOvr>
</ns0:sld>
</file>

<file path=ppt/slides/slide2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7F9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7F9F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942975" y="31003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942975" y="51577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942975" y="71008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ectangle 6"/>
          <ns0:cNvSpPr/>
          <ns0:nvPr/>
        </ns0:nvSpPr>
        <ns0:spPr>
          <ns1:xfrm>
            <ns1:off x="942975" y="9043987"/>
            <ns1:ext cx="16402050" cy="14287"/>
          </ns1:xfrm>
          <ns1:prstGeom prst="rect">
            <ns1:avLst/>
          </ns1:prstGeom>
          <ns1:solidFill>
            <ns1:srgbClr val="D8E0EA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928687"/>
            <ns1:ext cx="16430625" cy="13144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4275" b="1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分母处理与数据提醒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942975" y="2471737"/>
            <ns1:ext cx="3143250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项目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4900612" y="2471737"/>
            <ns1:ext cx="11858625" cy="457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47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口径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42975" y="35433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转化率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4900612" y="35433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单行分母为零仍进入分子与分母合计；仅排除缺失配对，合计分母</ns1:t>
            </ns1:r>
          </ns1:p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为零时不计算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942975" y="54864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退款率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4900612" y="54864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单行分母为零仍进入分子与分母合计；仅排除缺失配对，合计分母</ns1:t>
            </ns1:r>
          </ns1:p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为零时不计算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942975" y="7429500"/>
            <ns1:ext cx="3514725" cy="1071562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投入产出比（</ns1:t>
            </ns1:r>
          </ns1:p>
          <ns1:p>
            <ns1:pPr algn="l">
              <ns1:lnSpc>
                <ns1:spcPct val="122000"/>
              </ns1:lnSpc>
            </ns1:pPr>
            <ns1:r>
              <ns1:rPr sz="2925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ROAS）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4900612" y="7429500"/>
            <ns1:ext cx="12401550" cy="16002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单行分母为零仍进入分子与分母合计；仅排除缺失配对，合计分母</ns1:t>
            </ns1:r>
          </ns1:p>
          <ns1:p>
            <ns1:pPr algn="l">
              <ns1:lnSpc>
                <ns1:spcPct val="122000"/>
              </ns1:lnSpc>
            </ns1:pPr>
            <ns1:r>
              <ns1:rPr sz="3037" b="0">
                <ns1:solidFill>
                  <ns1:srgbClr val="152238"/>
                </ns1:solidFill>
                <ns1:latin typeface="Microsoft YaHei"/>
                <ns1:ea typeface="Microsoft YaHei"/>
                <ns1:cs typeface="Microsoft YaHei"/>
              </ns1:rPr>
              <ns1:t>为零时不计算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914400" y="285750"/>
            <ns1:ext cx="16430625" cy="40005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250" b="1">
                <ns1:solidFill>
                  <ns1:srgbClr val="2457D6"/>
                </ns1:solidFill>
                <ns1:latin typeface="Microsoft YaHei"/>
                <ns1:ea typeface="Microsoft YaHei"/>
                <ns1:cs typeface="Microsoft YaHei"/>
              </ns1:rPr>
              <ns1:t>附录 · 分母与数据提醒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942975" y="9858375"/>
            <ns1:ext cx="8572500" cy="342900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1912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附录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5716250" y="9829800"/>
            <ns1:ext cx="1857375" cy="371475"/>
          </ns1:xfrm>
          <ns1:prstGeom prst="rect">
            <ns1:avLst/>
          </ns1:prstGeom>
          <ns1:noFill/>
          <ns1:effectLst/>
        </ns0:spPr>
        <ns0:txBody>
          <ns1:bodyPr wrap="square">
            <ns1:noAutofit/>
          </ns1:bodyPr>
          <ns1:lstStyle/>
          <ns1:p>
            <ns1:pPr algn="l">
              <ns1:lnSpc>
                <ns1:spcPct val="122000"/>
              </ns1:lnSpc>
            </ns1:pPr>
            <ns1:r>
              <ns1:rPr sz="2025" b="0">
                <ns1:solidFill>
                  <ns1:srgbClr val="5D6675"/>
                </ns1:solidFill>
                <ns1:latin typeface="Microsoft YaHei"/>
                <ns1:ea typeface="Microsoft YaHei"/>
                <ns1:cs typeface="Microsoft YaHei"/>
              </ns1:rPr>
              <ns1:t>23 / 23</ns1:t>
            </ns1:r>
          </ns1:p>
        </ns0:txBody>
      </ns0:sp>
    </ns0:spTree>
  </ns0:cSld>
  <ns0:clrMapOvr>
    <ns1:masterClrMapping/>
  </ns0:clrMapOvr>
</ns0:sld>
</file>

<file path=ppt/theme/theme1.xml><?xml version="1.0" encoding="utf-8"?>
<ns0:theme xmlns:ns0="http://schemas.openxmlformats.org/drawingml/2006/main" name="Office Theme">
  <ns0:themeElements>
    <ns0:clrScheme name="slideviber">
      <ns0:dk1>
        <ns0:srgbClr val="152238"/>
      </ns0:dk1>
      <ns0:lt1>
        <ns0:srgbClr val="F7F9FC"/>
      </ns0:lt1>
      <ns0:dk2>
        <ns0:srgbClr val="5D6675"/>
      </ns0:dk2>
      <ns0:lt2>
        <ns0:srgbClr val="FFFFFF"/>
      </ns0:lt2>
      <ns0:accent1>
        <ns0:srgbClr val="2457D6"/>
      </ns0:accent1>
      <ns0:accent2>
        <ns0:srgbClr val="0F6B4C"/>
      </ns0:accent2>
      <ns0:accent3>
        <ns0:srgbClr val="F59E0B"/>
      </ns0:accent3>
      <ns0:accent4>
        <ns0:srgbClr val="8B5CF6"/>
      </ns0:accent4>
      <ns0:accent5>
        <ns0:srgbClr val="E45858"/>
      </ns0:accent5>
      <ns0:accent6>
        <ns0:srgbClr val="0F6B4C"/>
      </ns0:accent6>
      <ns0:hlink>
        <ns0:srgbClr val="0000FF"/>
      </ns0:hlink>
      <ns0:folHlink>
        <ns0:srgbClr val="800080"/>
      </ns0:folHlink>
    </ns0:clrScheme>
    <ns0:fontScheme name="slideviber">
      <ns0:majorFont>
        <ns0:latin typeface="Microsoft YaHei"/>
        <ns0:ea typeface="Microsoft YaHei"/>
        <ns0:cs typeface="Microsoft YaHei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Microsoft YaHei"/>
        <ns0:ea typeface="Microsoft YaHei"/>
        <ns0:cs typeface="Microsoft YaHei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public-slideviber-build-r3</dc:title>
  <dc:subject/>
  <dc:creator>slideviber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